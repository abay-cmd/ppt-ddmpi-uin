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Latar Belakang: Membandingkan sekolah yang ideal menurut teori dengan kenyataan di lembaga pendidikan Islam. Sumber: Makalah Bab I.A
Sistem Terbuka: Sekolah dipandang sebagai sistem yang menerima masukan dari lingkungan dan harus menyesuaikan diri. Sumber: Makalah Bab II.A; (Hoy &amp; Miskel, 2008)
Budaya: Menjelaskan apa itu budaya organisasi dan tiga lapisannya: norma, nilai, dan asumsi. Sumber: Makalah Bab II.B; (Hoy &amp; Miskel, 2008)
Nilai dan Norma: Menjelaskan bagaimana nilai sekolah dirumuskan, dijadikan aturan, dibiasakan, dan dijaga. Sumber: Makalah Bab III.B
Iklim: Membedakan budaya, yaitu keyakinan yang mengendap, dari iklim, yaitu suasana yang dirasakan sehari-hari. Sumber: Makalah Bab II.C; (Hoy &amp; Miskel, 2008)
Kepercayaan dan Kesehatan: Rasa saling percaya warga sekolah menopang kesehatan organisasi, yaitu kemampuan sekolah tetap berfungsi dan mencapai tujuan. Sumber: Makalah Bab II.D dan II.E; (Hoy &amp; Miskel, 2008)
Perubahan: Menjelaskan mengapa mengubah budaya itu lama dan mengapa sebagian orang menolaknya. Sumber: Makalah Bab II.F; (Hoy &amp; Miskel, 2008)
Penutup: Kesimpulan, implikasi, dan saran untuk kepala madrasah, pengelola, dan peneliti. Sumber: Makalah Bab 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Ideal: Sekolah efektif bila empat unsurnya (struktur, individu, budaya, politik) bergerak searah. Makin cocok satu sama lain, makin efektif sekolahnya. Sumber: (Hoy &amp; Miskel, 2008)
Motivasi guru rendah: Penelitian melaporkan motivasi kerja guru rendah, budaya berprestasi belum terbentuk, dan warga sekolah kurang memahami nilai serta slogan sekolahnya. Sumber: (Fandholi dkk., 2023)
Komunikasi lemah: Komunikasi yang kurang efektif antara pimpinan dan staf membuat komitmen profesional guru melemah. Sumber: (Nurlathifah &amp; Hidayat, 2025)
Sekadar administratif: Sekolah yang hanya mengikuti petunjuk teknis dan bekerja monoton membuat guru kurang berani berinovasi dalam pembelajaran. Sumber: (Murniati &amp; Sudana,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budaya: Pertanyaan 1: apa itu budaya organisasi, apa saja levelnya, dan bagaimana wujudnya di lembaga pendidikan Islam. Sumber: Makalah Bab I.B
Nilai dan norma: Pertanyaan 2: bagaimana nilai dan norma dibentuk, ditanamkan kepada warga sekolah, dan dijaga. Sumber: Makalah Bab I.B
Budaya vs iklim: Pertanyaan 3: apa beda budaya dan iklim, dan bagaimana membangun iklim kerja yang kondusif. Sumber: Makalah Bab I.B
Trust dan health: Pertanyaan 4: bagaimana rasa saling percaya berhubungan dengan kesehatan organisasi. Sumber: Makalah Bab I.B
Perubahan: Pertanyaan 5: bagaimana perubahan budaya dikelola, termasuk ketika ada yang menolaknya. Sumber: Makalah Bab 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 proses, output: Sekolah mengambil guru, murid, dan dana dari lingkungan, mengolahnya menjadi lulusan terdidik, lalu hasilnya kembali ke lingkungan. Umpan balik menjaga siklus ini. Sumber: (Hoy &amp; Miskel, 2008)
Empat unsur: Perilaku di sekolah lahir dari interaksi struktur (aturan formal), individu, budaya (keyakinan bersama), dan politik (kekuasaan informal). Sumber: (Hoy &amp; Miskel, 2008)
Harus adaptif: Sekolah bergantung pada lingkungannya. Agar bertahan ia perlu menyesuaikan diri, artinya perlu berubah. Sumber: (Hoy &amp; Miskel, 2008)
Lembaga Islam: Lembaga pendidikan Islam berada di antara tuntutan modernisasi manajemen dan kewajiban menjaga nilai keislaman. Sumber: (Irhas,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Orientasi bersama: Budaya adalah cara pandang yang dipegang bersama sehingga sebuah sekolah punya identitas yang berbeda dari sekolah lain. Sumber: (Hoy &amp; Miskel, 2008)
Kepribadian kolektif: Seperti manusia punya kepribadian, sekolah punya budaya yang menjadi dasar identitas dan cara kerjanya. Sumber: (Habudin, 2020)
Sistem makna bersama: Warga sekolah memahami dan menjalani arti yang sama tentang apa yang penting dan pantas. Sumber: (Afrida &amp; Fitri, 2022)
Fungsi: Budaya menegaskan batas antarorganisasi, memberi identitas, menumbuhkan komitmen, menjaga stabilitas, dan menjadi perekat yang menyediakan standar perilaku. Sumber: (Hoy &amp; Miskel,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 Aturan yang umumnya tidak tertulis dan terasa langsung dalam perilaku sehari-hari. Pelanggarnya mendapat sanksi. Sumber: (Hoy &amp; Miskel, 2008)
Nilai: Keyakinan tentang apa yang diinginkan. Nilai menjadi ukuran keberhasilan dan memberi rasa identitas. Sumber: (Hoy &amp; Miskel, 2008)
Asumsi: Keyakinan terdalam yang dianggap biasa sehingga jarang dipertanyakan, maka paling sulit berubah. Di madrasah, contohnya pandangan bahwa bekerja adalah ibadah. Sumber: (Hoy &amp; Miskel, 2008); (Kusumaningrum dkk.,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Rumuskan: Nilai seperti religiusitas, kejujuran, dan tanggung jawab disepakati bersama pimpinan, guru, dan staf. Nilai yang disusun sepihak berisiko menjadi slogan. Sumber: (Wulandari &amp; Nugroho, 2020); (Hoy &amp; Miskel, 2008)
Terapkan: Nilai diubah menjadi aturan konkret, ada yang tertulis (kode etik, tata tertib) dan ada yang tidak tertulis (senyum, salam, sapa, sopan, santun). Sumber: (Nasution dkk., 2025)
Tanamkan: Murid dibiasakan, misalnya salat berjamaah, membaca Al-Quran, dan piket kebersihan, sampai pengetahuan moral menjadi tindakan. Sumber: (Indrianingrum dkk., 2024)
Jaga: Kepala sekolah memberi contoh sikap, kedisiplinan, dan ketaatan aturan agar norma tidak pudar. Sumber: (Anjarrini &amp; Rindaningsih,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Budaya: Kumpulan nilai, norma, dan asumsi yang sudah mengakar lama sehingga lambat berubah. Sumber: (Habudin, 2020); (Tasliman &amp; Suklani, 2024)
Iklim: Perasaan dan persepsi warga sekolah tentang suasana kerja sehari-hari, sehingga lebih mudah berubah. Sumber: (Nisa dkk., 2020)
Objek berbeda: Budaya menyangkut apa yang diyakini bersama. Iklim menyangkut bagaimana perilaku di sekolah dirasakan bersama. Sumber: (Hoy &amp; Miskel, 2008)
Baterai dan senter: Budaya ibarat baterai sebagai sumber daya, iklim ibarat cahaya senter yang tampak darinya. Sumber: (Basyit, 2020)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Keterbukaan: Diukur dengan kuesioner OCDQ yang menilai perilaku kepala sekolah dan guru. Iklim terbuka ditandai kerja sama dan saling hormat. Di Indonesia dimensinya dirumuskan sebagai keterbukaan komunikasi, kehangatan hubungan, dukungan pimpinan, dan kejelasan struktur kerja. Sumber: (Hoy &amp; Miskel, 2008); (Setiyani dkk., 2024)
Kesehatan: Menilai kemampuan sekolah menghadapi tekanan luar sambil mengarahkan sumber daya pada tujuan, lewat tujuh dimensi di tiga level. Sumber: (Hoy &amp; Miskel, 2008)
Kewargaan: Menilai perilaku guru yang melampaui tugas resmi, seperti membantu rekan baru, tepat waktu, dan sukarela mengikuti kegiatan sekolah. Sumber: (Hoy &amp; Miskel,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Kebajikan: Percaya berarti rela membuka diri karena yakin pihak lain tidak akan merugikan. Kebajikan: yakin pihak lain peduli dan berniat baik. Sumber: (Hoy &amp; Miskel, 2008)
Keandalan: Keandalan: yakin ucapan dan tindakan pihak lain konsisten dan bisa dipegang. Sumber: (Hoy &amp; Miskel, 2008)
Kompetensi: Kompetensi: yakin pihak lain mampu mengerjakan perannya dengan baik. Sumber: (Hoy &amp; Miskel, 2008)
Kejujuran: Kejujuran: yakin pihak lain berkata benar dan menepati janji. Sumber: (Hoy &amp; Miskel, 2008)
Keterbukaan: Keterbukaan: yakin pihak lain mau berbagi informasi secara terbuka. Sumber: (Hoy &amp; Miskel,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Institusional: Level paling atas: sekolah punya integritas sehingga terlindung dari tekanan kepentingan luar. Sumber: (Hoy &amp; Miskel, 2008)
Manajerial: Level kepala sekolah: pengaruh, perhatian pada guru (konsiderasi), penataan struktur, dan dukungan sumber daya. Sumber: (Hoy &amp; Miskel, 2008)
Teknis: Level guru dan murid: semangat kerja guru (moral) dan penekanan pada prestasi akademik. Sumber: (Hoy &amp; Miskel, 2008)
Ciri sekolah sehat: Ciri sekolah sehat: semangat kerja tinggi, visi selaras, dan minim konflik yang merusak. Sumber: (Huda,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Tanpa jalan pintas: Tidak ada cara cepat mengubah budaya atau iklim. Upaya jangka panjang yang menyeluruh lebih mungkin berhasil daripada tren sesaat. Sumber: (Hoy &amp; Miskel, 2008)
Norma paling mudah: Dari tiga level budaya, norma yang paling mungkin berubah. Nilai dan asumsi tersembunyi jauh lebih sukar. Sumber: (Hoy &amp; Miskel, 2008)
Sebab resistensi: Orang menolak karena nyaman dengan cara lama, takut pada ketidakpastian, dan belum mahir teknologi baru. Sumber: (Putri dkk., 2025)
Pertahanan sosial: Budaya juga cara anggota mengatasi cemas, jadi mengubahnya berarti meminta orang melepas pertahanan sosialnya. Karena itu penolakan perlu dihadapi dengan empati dan dialog. Sumber: (Hoy &amp; Miskel, 2008)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Klinis: Lima langkah seperti dokter: mengenali organisasi, mendiagnosis, membuat prognosis, memberi resep, lalu mengevaluasi. Evaluasi berkala di madrasah mirip langkah terakhir ini. Sumber: (Hoy &amp; Miskel, 2008)
Berpusat pada pertumbuhan: Perubahan dianggap sifat organisasi yang sehat dan guru berpotensi besar mengembangkannya. Pelatihan profesional sejalan dengan strategi ini. Sumber: (Hoy &amp; Miskel, 2008); (Tiftazani dkk., 2025)
Ubah norma: Langkahnya: ungkap norma, rumuskan arah baru, tetapkan norma baru, cari kesenjangan, lalu tutup. Respondennya harus anonim. Pemimpin transformasional membantu lewat komunikasi partisipatif dan pelibatan staf. Sumber: (Hoy &amp; Miskel, 2008); (Tiftazani dkk.,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Budaya, lalu iklim: Orientasi bersama yang dipegang warga sekolah membentuk suasana kerja yang mereka rasakan. Sumber: Makalah Bab IV.A
Iklim, lalu trust: Suasana yang terbuka membuat guru lebih percaya pada pimpinan dan rekannya. Sumber: Makalah Bab IV.A; (Hoy &amp; Miskel, 2008)
Trust, lalu health: Kepercayaan bersama komitmen dan komunikasi terbuka menopang kesehatan organisasi. Sumber: Makalah Bab IV.A
Perubahan: Mengubah budaya butuh waktu lama dan menghadapi penolakan. Kepemimpinan transformasional, komunikasi partisipatif, pelatihan, dan evaluasi berkala membantu. Sumber: Makalah Bab 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Nilai lewat musyawarah: Kepala madrasah menyusun nilai inti bersama guru dan staf, memberi teladan setiap hari, dan konsisten menegakkan norma. Sumber: Makalah Bab IV.C
Survei anonim: Pengelola memetakan iklim dan kesehatan sekolah secara berkala lewat survei anonim guru, lalu membandingkannya dengan persepsi pimpinan. Sumber: Makalah Bab IV.C
Ubah bertahap: Pimpinan mengubah secara bertahap: ungkap norma yang berlaku, beri pelatihan, buka ruang dialog bagi yang ragu, lalu evaluasi berkala. Sumber: Makalah Bab IV.C
Riset lanjutan: Peneliti berikutnya menguji secara empiris dimensi lokal terhadap dimensi Hoy dan Miskel, termasuk integritas institusional dan kemungkinan subbudaya. Sumber: Makalah Bab IV.C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CECEC"/>
        </a:solidFill>
      </p:bgPr>
    </p:bg>
    <p:spTree>
      <p:nvGrpSpPr>
        <p:cNvPr id="1" name=""/>
        <p:cNvGrpSpPr/>
        <p:nvPr/>
      </p:nvGrpSpPr>
      <p:grpSpPr>
        <a:xfrm>
          <a:off x="0" y="0"/>
          <a:ext cx="0" cy="0"/>
          <a:chOff x="0" y="0"/>
          <a:chExt cx="0" cy="0"/>
        </a:xfrm>
      </p:grpSpPr>
      <p:sp>
        <p:nvSpPr>
          <p:cNvPr id="2" name="Shape 0"/>
          <p:cNvSpPr/>
          <p:nvPr/>
        </p:nvSpPr>
        <p:spPr>
          <a:xfrm>
            <a:off x="457200" y="457200"/>
            <a:ext cx="1371600" cy="292608"/>
          </a:xfrm>
          <a:prstGeom prst="roundRect">
            <a:avLst>
              <a:gd name="adj" fmla="val 50000"/>
            </a:avLst>
          </a:prstGeom>
          <a:solidFill>
            <a:srgbClr val="FF2A1A"/>
          </a:solidFill>
          <a:ln w="12700">
            <a:solidFill>
              <a:srgbClr val="FF2A1A"/>
            </a:solidFill>
            <a:prstDash val="solid"/>
          </a:ln>
        </p:spPr>
      </p:sp>
      <p:sp>
        <p:nvSpPr>
          <p:cNvPr id="3" name="Text 1"/>
          <p:cNvSpPr txBox="1"/>
          <p:nvPr/>
        </p:nvSpPr>
        <p:spPr>
          <a:xfrm>
            <a:off x="457200" y="457200"/>
            <a:ext cx="1371600" cy="292608"/>
          </a:xfrm>
          <a:prstGeom prst="rect">
            <a:avLst/>
          </a:prstGeom>
          <a:noFill/>
          <a:ln/>
        </p:spPr>
        <p:txBody>
          <a:bodyPr wrap="square" lIns="0" tIns="0" rIns="0" bIns="0" rtlCol="0" anchor="ctr"/>
          <a:lstStyle/>
          <a:p>
            <a:pPr algn="ctr" indent="0" marL="0">
              <a:buNone/>
            </a:pPr>
            <a:r>
              <a:rPr lang="en-US" sz="1100" dirty="0">
                <a:solidFill>
                  <a:srgbClr val="FFFFFF"/>
                </a:solidFill>
                <a:latin typeface="Impact" pitchFamily="34" charset="0"/>
                <a:ea typeface="Impact" pitchFamily="34" charset="-122"/>
                <a:cs typeface="Impact" pitchFamily="34" charset="-120"/>
              </a:rPr>
              <a:t>MAKALAH 2026</a:t>
            </a:r>
            <a:endParaRPr lang="en-US" sz="1100" dirty="0"/>
          </a:p>
        </p:txBody>
      </p:sp>
      <p:sp>
        <p:nvSpPr>
          <p:cNvPr id="4" name="Text 2"/>
          <p:cNvSpPr txBox="1"/>
          <p:nvPr/>
        </p:nvSpPr>
        <p:spPr>
          <a:xfrm>
            <a:off x="457200" y="914400"/>
            <a:ext cx="5486400" cy="543958"/>
          </a:xfrm>
          <a:prstGeom prst="rect">
            <a:avLst/>
          </a:prstGeom>
          <a:noFill/>
          <a:ln/>
        </p:spPr>
        <p:txBody>
          <a:bodyPr wrap="none" lIns="0" tIns="0" rIns="0" bIns="0" rtlCol="0" anchor="t"/>
          <a:lstStyle/>
          <a:p>
            <a:pPr indent="0" marL="0">
              <a:buNone/>
            </a:pPr>
            <a:r>
              <a:rPr lang="en-US" sz="4000" dirty="0">
                <a:solidFill>
                  <a:srgbClr val="0B0B0B"/>
                </a:solidFill>
                <a:latin typeface="Impact" pitchFamily="34" charset="0"/>
                <a:ea typeface="Impact" pitchFamily="34" charset="-122"/>
                <a:cs typeface="Impact" pitchFamily="34" charset="-120"/>
              </a:rPr>
              <a:t>BUDAYA</a:t>
            </a:r>
            <a:endParaRPr lang="en-US" sz="4000" dirty="0"/>
          </a:p>
        </p:txBody>
      </p:sp>
      <p:sp>
        <p:nvSpPr>
          <p:cNvPr id="5" name="Text 3"/>
          <p:cNvSpPr txBox="1"/>
          <p:nvPr/>
        </p:nvSpPr>
        <p:spPr>
          <a:xfrm>
            <a:off x="704088" y="1412638"/>
            <a:ext cx="5486400" cy="543958"/>
          </a:xfrm>
          <a:prstGeom prst="rect">
            <a:avLst/>
          </a:prstGeom>
          <a:noFill/>
          <a:ln/>
        </p:spPr>
        <p:txBody>
          <a:bodyPr wrap="none" lIns="0" tIns="0" rIns="0" bIns="0" rtlCol="0" anchor="t"/>
          <a:lstStyle/>
          <a:p>
            <a:pPr indent="0" marL="0">
              <a:buNone/>
            </a:pPr>
            <a:r>
              <a:rPr lang="en-US" sz="4000" dirty="0">
                <a:solidFill>
                  <a:srgbClr val="FF2A1A"/>
                </a:solidFill>
                <a:latin typeface="Impact" pitchFamily="34" charset="0"/>
                <a:ea typeface="Impact" pitchFamily="34" charset="-122"/>
                <a:cs typeface="Impact" pitchFamily="34" charset="-120"/>
              </a:rPr>
              <a:t>&amp; IKLIM</a:t>
            </a:r>
            <a:endParaRPr lang="en-US" sz="4000" dirty="0"/>
          </a:p>
        </p:txBody>
      </p:sp>
      <p:sp>
        <p:nvSpPr>
          <p:cNvPr id="6" name="Text 4"/>
          <p:cNvSpPr txBox="1"/>
          <p:nvPr/>
        </p:nvSpPr>
        <p:spPr>
          <a:xfrm>
            <a:off x="457200" y="1910877"/>
            <a:ext cx="5486400" cy="543958"/>
          </a:xfrm>
          <a:prstGeom prst="rect">
            <a:avLst/>
          </a:prstGeom>
          <a:noFill/>
          <a:ln/>
        </p:spPr>
        <p:txBody>
          <a:bodyPr wrap="none" lIns="0" tIns="0" rIns="0" bIns="0" rtlCol="0" anchor="t"/>
          <a:lstStyle/>
          <a:p>
            <a:pPr indent="0" marL="0">
              <a:buNone/>
            </a:pPr>
            <a:r>
              <a:rPr lang="en-US" sz="4000" dirty="0">
                <a:solidFill>
                  <a:srgbClr val="0B0B0B"/>
                </a:solidFill>
                <a:latin typeface="Impact" pitchFamily="34" charset="0"/>
                <a:ea typeface="Impact" pitchFamily="34" charset="-122"/>
                <a:cs typeface="Impact" pitchFamily="34" charset="-120"/>
              </a:rPr>
              <a:t>ORGANISASI</a:t>
            </a:r>
            <a:endParaRPr lang="en-US" sz="4000" dirty="0"/>
          </a:p>
        </p:txBody>
      </p:sp>
      <p:sp>
        <p:nvSpPr>
          <p:cNvPr id="7" name="Text 5"/>
          <p:cNvSpPr txBox="1"/>
          <p:nvPr/>
        </p:nvSpPr>
        <p:spPr>
          <a:xfrm>
            <a:off x="704088" y="2409115"/>
            <a:ext cx="5486400" cy="543958"/>
          </a:xfrm>
          <a:prstGeom prst="rect">
            <a:avLst/>
          </a:prstGeom>
          <a:noFill/>
          <a:ln/>
        </p:spPr>
        <p:txBody>
          <a:bodyPr wrap="none" lIns="0" tIns="0" rIns="0" bIns="0" rtlCol="0" anchor="t"/>
          <a:lstStyle/>
          <a:p>
            <a:pPr indent="0" marL="0">
              <a:buNone/>
            </a:pPr>
            <a:r>
              <a:rPr lang="en-US" sz="4000" dirty="0">
                <a:solidFill>
                  <a:srgbClr val="0B0B0B"/>
                </a:solidFill>
                <a:latin typeface="Impact" pitchFamily="34" charset="0"/>
                <a:ea typeface="Impact" pitchFamily="34" charset="-122"/>
                <a:cs typeface="Impact" pitchFamily="34" charset="-120"/>
              </a:rPr>
              <a:t>PENDIDIKAN</a:t>
            </a:r>
            <a:endParaRPr lang="en-US" sz="4000" dirty="0"/>
          </a:p>
        </p:txBody>
      </p:sp>
      <p:sp>
        <p:nvSpPr>
          <p:cNvPr id="8" name="Text 6"/>
          <p:cNvSpPr txBox="1"/>
          <p:nvPr/>
        </p:nvSpPr>
        <p:spPr>
          <a:xfrm>
            <a:off x="457200" y="3520440"/>
            <a:ext cx="5669280" cy="73152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Dasar-dasar Manajemen Pendidikan Islam</a:t>
            </a:r>
            <a:endParaRPr lang="en-US" sz="1100" dirty="0"/>
          </a:p>
          <a:p>
            <a:pPr indent="0" marL="0">
              <a:buNone/>
            </a:pPr>
            <a:r>
              <a:rPr lang="en-US" sz="1100" b="1" dirty="0">
                <a:solidFill>
                  <a:srgbClr val="0B0B0B"/>
                </a:solidFill>
                <a:latin typeface="Arial Narrow" pitchFamily="34" charset="0"/>
                <a:ea typeface="Arial Narrow" pitchFamily="34" charset="-122"/>
                <a:cs typeface="Arial Narrow" pitchFamily="34" charset="-120"/>
              </a:rPr>
              <a:t>Dosen: Dr. Ujang Suyatman, M. Ag.</a:t>
            </a:r>
            <a:endParaRPr lang="en-US" sz="1100" dirty="0"/>
          </a:p>
          <a:p>
            <a:pPr indent="0" marL="0">
              <a:buNone/>
            </a:pPr>
            <a:r>
              <a:rPr lang="en-US" sz="1100" b="1" dirty="0">
                <a:solidFill>
                  <a:srgbClr val="0B0B0B"/>
                </a:solidFill>
                <a:latin typeface="Arial Narrow" pitchFamily="34" charset="0"/>
                <a:ea typeface="Arial Narrow" pitchFamily="34" charset="-122"/>
                <a:cs typeface="Arial Narrow" pitchFamily="34" charset="-120"/>
              </a:rPr>
              <a:t>Penulis: Akbar Tausiur Rido (2269100087) | Iman Firmansyah (2269100052)</a:t>
            </a:r>
            <a:endParaRPr lang="en-US" sz="1100" dirty="0"/>
          </a:p>
        </p:txBody>
      </p:sp>
      <p:sp>
        <p:nvSpPr>
          <p:cNvPr id="9" name="Shape 7"/>
          <p:cNvSpPr/>
          <p:nvPr/>
        </p:nvSpPr>
        <p:spPr>
          <a:xfrm>
            <a:off x="6492240" y="1280160"/>
            <a:ext cx="2103120" cy="2103120"/>
          </a:xfrm>
          <a:prstGeom prst="ellipse">
            <a:avLst/>
          </a:prstGeom>
          <a:solidFill>
            <a:srgbClr val="FF2A1A"/>
          </a:solidFill>
          <a:ln w="12700">
            <a:solidFill>
              <a:srgbClr val="FF2A1A"/>
            </a:solidFill>
            <a:prstDash val="solid"/>
          </a:ln>
        </p:spPr>
      </p:sp>
      <p:sp>
        <p:nvSpPr>
          <p:cNvPr id="10" name="Shape 8"/>
          <p:cNvSpPr/>
          <p:nvPr/>
        </p:nvSpPr>
        <p:spPr>
          <a:xfrm>
            <a:off x="6355080" y="1143000"/>
            <a:ext cx="2103120" cy="2103120"/>
          </a:xfrm>
          <a:prstGeom prst="ellipse">
            <a:avLst/>
          </a:prstGeom>
          <a:solidFill>
            <a:srgbClr val="FFFFFF"/>
          </a:solidFill>
          <a:ln w="38100">
            <a:solidFill>
              <a:srgbClr val="0B0B0B"/>
            </a:solidFill>
            <a:prstDash val="solid"/>
          </a:ln>
        </p:spPr>
      </p:sp>
      <p:pic>
        <p:nvPicPr>
          <p:cNvPr id="11" name="Image 0" descr="/mnt/user-data/outputs/logo.png">    </p:cNvPr>
          <p:cNvPicPr>
            <a:picLocks noChangeAspect="1"/>
          </p:cNvPicPr>
          <p:nvPr/>
        </p:nvPicPr>
        <p:blipFill>
          <a:blip r:embed="rId1"/>
          <a:stretch>
            <a:fillRect/>
          </a:stretch>
        </p:blipFill>
        <p:spPr>
          <a:xfrm>
            <a:off x="6949440" y="1280160"/>
            <a:ext cx="914400" cy="1375442"/>
          </a:xfrm>
          <a:prstGeom prst="rect">
            <a:avLst/>
          </a:prstGeom>
        </p:spPr>
      </p:pic>
      <p:sp>
        <p:nvSpPr>
          <p:cNvPr id="12" name="Text 9"/>
          <p:cNvSpPr txBox="1"/>
          <p:nvPr/>
        </p:nvSpPr>
        <p:spPr>
          <a:xfrm>
            <a:off x="457200" y="4617720"/>
            <a:ext cx="7772400" cy="274320"/>
          </a:xfrm>
          <a:prstGeom prst="rect">
            <a:avLst/>
          </a:prstGeom>
          <a:noFill/>
          <a:ln/>
        </p:spPr>
        <p:txBody>
          <a:bodyPr wrap="square" lIns="0" tIns="0" rIns="0" bIns="0" rtlCol="0" anchor="t"/>
          <a:lstStyle/>
          <a:p>
            <a:pPr indent="0" marL="0">
              <a:buNone/>
            </a:pPr>
            <a:r>
              <a:rPr lang="en-US" sz="900" dirty="0">
                <a:solidFill>
                  <a:srgbClr val="444444"/>
                </a:solidFill>
                <a:latin typeface="Arial Narrow" pitchFamily="34" charset="0"/>
                <a:ea typeface="Arial Narrow" pitchFamily="34" charset="-122"/>
                <a:cs typeface="Arial Narrow" pitchFamily="34" charset="-120"/>
              </a:rPr>
              <a:t>Program Magister Manajemen Pendidikan Islam, Pascasarjana UIN Sunan Gunung Djati Bandung</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718342"/>
          </a:xfrm>
          <a:prstGeom prst="rect">
            <a:avLst/>
          </a:prstGeom>
          <a:noFill/>
          <a:ln/>
        </p:spPr>
        <p:txBody>
          <a:bodyPr wrap="none" lIns="0" tIns="0" rIns="0" bIns="0" rtlCol="0" anchor="t"/>
          <a:lstStyle/>
          <a:p>
            <a:pPr indent="0" marL="0">
              <a:buNone/>
            </a:pPr>
            <a:r>
              <a:rPr lang="en-US" sz="5400" dirty="0">
                <a:solidFill>
                  <a:srgbClr val="0B0B0B"/>
                </a:solidFill>
                <a:latin typeface="Impact" pitchFamily="34" charset="0"/>
                <a:ea typeface="Impact" pitchFamily="34" charset="-122"/>
                <a:cs typeface="Impact" pitchFamily="34" charset="-120"/>
              </a:rPr>
              <a:t>DAFTAR</a:t>
            </a:r>
            <a:endParaRPr lang="en-US" sz="5400" dirty="0"/>
          </a:p>
        </p:txBody>
      </p:sp>
      <p:sp>
        <p:nvSpPr>
          <p:cNvPr id="3" name="Text 1"/>
          <p:cNvSpPr txBox="1"/>
          <p:nvPr/>
        </p:nvSpPr>
        <p:spPr>
          <a:xfrm>
            <a:off x="868680" y="1084102"/>
            <a:ext cx="8229600" cy="718342"/>
          </a:xfrm>
          <a:prstGeom prst="rect">
            <a:avLst/>
          </a:prstGeom>
          <a:noFill/>
          <a:ln/>
        </p:spPr>
        <p:txBody>
          <a:bodyPr wrap="none" lIns="0" tIns="0" rIns="0" bIns="0" rtlCol="0" anchor="t"/>
          <a:lstStyle/>
          <a:p>
            <a:pPr indent="0" marL="0">
              <a:buNone/>
            </a:pPr>
            <a:r>
              <a:rPr lang="en-US" sz="5400" dirty="0">
                <a:solidFill>
                  <a:srgbClr val="FF2A1A"/>
                </a:solidFill>
                <a:latin typeface="Impact" pitchFamily="34" charset="0"/>
                <a:ea typeface="Impact" pitchFamily="34" charset="-122"/>
                <a:cs typeface="Impact" pitchFamily="34" charset="-120"/>
              </a:rPr>
              <a:t>MATERI</a:t>
            </a:r>
            <a:endParaRPr lang="en-US" sz="5400" dirty="0"/>
          </a:p>
        </p:txBody>
      </p:sp>
      <p:sp>
        <p:nvSpPr>
          <p:cNvPr id="4" name="Shape 2"/>
          <p:cNvSpPr/>
          <p:nvPr/>
        </p:nvSpPr>
        <p:spPr>
          <a:xfrm>
            <a:off x="457200" y="1828800"/>
            <a:ext cx="1920240" cy="0"/>
          </a:xfrm>
          <a:prstGeom prst="line">
            <a:avLst/>
          </a:prstGeom>
          <a:noFill/>
          <a:ln w="31750">
            <a:solidFill>
              <a:srgbClr val="0B0B0B"/>
            </a:solidFill>
            <a:prstDash val="solid"/>
          </a:ln>
        </p:spPr>
      </p:sp>
      <p:sp>
        <p:nvSpPr>
          <p:cNvPr id="5" name="Text 3"/>
          <p:cNvSpPr txBox="1"/>
          <p:nvPr/>
        </p:nvSpPr>
        <p:spPr>
          <a:xfrm>
            <a:off x="457200" y="1901952"/>
            <a:ext cx="1920240" cy="411480"/>
          </a:xfrm>
          <a:prstGeom prst="rect">
            <a:avLst/>
          </a:prstGeom>
          <a:noFill/>
          <a:ln/>
        </p:spPr>
        <p:txBody>
          <a:bodyPr wrap="square" lIns="0" tIns="0" rIns="0" bIns="0" rtlCol="0" anchor="t"/>
          <a:lstStyle/>
          <a:p>
            <a:pPr indent="0" marL="0">
              <a:buNone/>
            </a:pPr>
            <a:r>
              <a:rPr lang="en-US" sz="2000" dirty="0">
                <a:solidFill>
                  <a:srgbClr val="FF2A1A"/>
                </a:solidFill>
                <a:latin typeface="Impact" pitchFamily="34" charset="0"/>
                <a:ea typeface="Impact" pitchFamily="34" charset="-122"/>
                <a:cs typeface="Impact" pitchFamily="34" charset="-120"/>
              </a:rPr>
              <a:t>01</a:t>
            </a:r>
            <a:endParaRPr lang="en-US" sz="2000" dirty="0"/>
          </a:p>
        </p:txBody>
      </p:sp>
      <p:sp>
        <p:nvSpPr>
          <p:cNvPr id="6" name="Text 4"/>
          <p:cNvSpPr txBox="1"/>
          <p:nvPr/>
        </p:nvSpPr>
        <p:spPr>
          <a:xfrm>
            <a:off x="457200" y="228600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LATAR BELAKANG</a:t>
            </a:r>
            <a:endParaRPr lang="en-US" sz="1600" dirty="0"/>
          </a:p>
        </p:txBody>
      </p:sp>
      <p:sp>
        <p:nvSpPr>
          <p:cNvPr id="7" name="Text 5"/>
          <p:cNvSpPr txBox="1"/>
          <p:nvPr/>
        </p:nvSpPr>
        <p:spPr>
          <a:xfrm>
            <a:off x="457200" y="2542032"/>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Ideal vs realita</a:t>
            </a:r>
            <a:endParaRPr lang="en-US" sz="1250" dirty="0"/>
          </a:p>
        </p:txBody>
      </p:sp>
      <p:sp>
        <p:nvSpPr>
          <p:cNvPr id="8" name="Shape 6"/>
          <p:cNvSpPr/>
          <p:nvPr/>
        </p:nvSpPr>
        <p:spPr>
          <a:xfrm>
            <a:off x="2560320" y="1828800"/>
            <a:ext cx="1920240" cy="0"/>
          </a:xfrm>
          <a:prstGeom prst="line">
            <a:avLst/>
          </a:prstGeom>
          <a:noFill/>
          <a:ln w="31750">
            <a:solidFill>
              <a:srgbClr val="0B0B0B"/>
            </a:solidFill>
            <a:prstDash val="solid"/>
          </a:ln>
        </p:spPr>
      </p:sp>
      <p:sp>
        <p:nvSpPr>
          <p:cNvPr id="9" name="Text 7"/>
          <p:cNvSpPr txBox="1"/>
          <p:nvPr/>
        </p:nvSpPr>
        <p:spPr>
          <a:xfrm>
            <a:off x="2560320" y="1901952"/>
            <a:ext cx="1920240" cy="411480"/>
          </a:xfrm>
          <a:prstGeom prst="rect">
            <a:avLst/>
          </a:prstGeom>
          <a:noFill/>
          <a:ln/>
        </p:spPr>
        <p:txBody>
          <a:bodyPr wrap="square" lIns="0" tIns="0" rIns="0" bIns="0" rtlCol="0" anchor="t"/>
          <a:lstStyle/>
          <a:p>
            <a:pPr indent="0" marL="0">
              <a:buNone/>
            </a:pPr>
            <a:r>
              <a:rPr lang="en-US" sz="2000" dirty="0">
                <a:solidFill>
                  <a:srgbClr val="FF2A1A"/>
                </a:solidFill>
                <a:latin typeface="Impact" pitchFamily="34" charset="0"/>
                <a:ea typeface="Impact" pitchFamily="34" charset="-122"/>
                <a:cs typeface="Impact" pitchFamily="34" charset="-120"/>
              </a:rPr>
              <a:t>02</a:t>
            </a:r>
            <a:endParaRPr lang="en-US" sz="2000" dirty="0"/>
          </a:p>
        </p:txBody>
      </p:sp>
      <p:sp>
        <p:nvSpPr>
          <p:cNvPr id="10" name="Text 8"/>
          <p:cNvSpPr txBox="1"/>
          <p:nvPr/>
        </p:nvSpPr>
        <p:spPr>
          <a:xfrm>
            <a:off x="2560320" y="228600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SISTEM TERBUKA</a:t>
            </a:r>
            <a:endParaRPr lang="en-US" sz="1600" dirty="0"/>
          </a:p>
        </p:txBody>
      </p:sp>
      <p:sp>
        <p:nvSpPr>
          <p:cNvPr id="11" name="Text 9"/>
          <p:cNvSpPr txBox="1"/>
          <p:nvPr/>
        </p:nvSpPr>
        <p:spPr>
          <a:xfrm>
            <a:off x="2560320" y="2542032"/>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Sekolah dan lingkungan</a:t>
            </a:r>
            <a:endParaRPr lang="en-US" sz="1250" dirty="0"/>
          </a:p>
        </p:txBody>
      </p:sp>
      <p:sp>
        <p:nvSpPr>
          <p:cNvPr id="12" name="Shape 10"/>
          <p:cNvSpPr/>
          <p:nvPr/>
        </p:nvSpPr>
        <p:spPr>
          <a:xfrm>
            <a:off x="4663440" y="1828800"/>
            <a:ext cx="1920240" cy="0"/>
          </a:xfrm>
          <a:prstGeom prst="line">
            <a:avLst/>
          </a:prstGeom>
          <a:noFill/>
          <a:ln w="31750">
            <a:solidFill>
              <a:srgbClr val="0B0B0B"/>
            </a:solidFill>
            <a:prstDash val="solid"/>
          </a:ln>
        </p:spPr>
      </p:sp>
      <p:sp>
        <p:nvSpPr>
          <p:cNvPr id="13" name="Text 11"/>
          <p:cNvSpPr txBox="1"/>
          <p:nvPr/>
        </p:nvSpPr>
        <p:spPr>
          <a:xfrm>
            <a:off x="4663440" y="1901952"/>
            <a:ext cx="1920240" cy="411480"/>
          </a:xfrm>
          <a:prstGeom prst="rect">
            <a:avLst/>
          </a:prstGeom>
          <a:noFill/>
          <a:ln/>
        </p:spPr>
        <p:txBody>
          <a:bodyPr wrap="square" lIns="0" tIns="0" rIns="0" bIns="0" rtlCol="0" anchor="t"/>
          <a:lstStyle/>
          <a:p>
            <a:pPr indent="0" marL="0">
              <a:buNone/>
            </a:pPr>
            <a:r>
              <a:rPr lang="en-US" sz="2000" dirty="0">
                <a:solidFill>
                  <a:srgbClr val="FF2A1A"/>
                </a:solidFill>
                <a:latin typeface="Impact" pitchFamily="34" charset="0"/>
                <a:ea typeface="Impact" pitchFamily="34" charset="-122"/>
                <a:cs typeface="Impact" pitchFamily="34" charset="-120"/>
              </a:rPr>
              <a:t>03</a:t>
            </a:r>
            <a:endParaRPr lang="en-US" sz="2000" dirty="0"/>
          </a:p>
        </p:txBody>
      </p:sp>
      <p:sp>
        <p:nvSpPr>
          <p:cNvPr id="14" name="Text 12"/>
          <p:cNvSpPr txBox="1"/>
          <p:nvPr/>
        </p:nvSpPr>
        <p:spPr>
          <a:xfrm>
            <a:off x="4663440" y="228600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BUDAYA</a:t>
            </a:r>
            <a:endParaRPr lang="en-US" sz="1600" dirty="0"/>
          </a:p>
        </p:txBody>
      </p:sp>
      <p:sp>
        <p:nvSpPr>
          <p:cNvPr id="15" name="Text 13"/>
          <p:cNvSpPr txBox="1"/>
          <p:nvPr/>
        </p:nvSpPr>
        <p:spPr>
          <a:xfrm>
            <a:off x="4663440" y="2542032"/>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Definisi dan level</a:t>
            </a:r>
            <a:endParaRPr lang="en-US" sz="1250" dirty="0"/>
          </a:p>
        </p:txBody>
      </p:sp>
      <p:sp>
        <p:nvSpPr>
          <p:cNvPr id="16" name="Shape 14"/>
          <p:cNvSpPr/>
          <p:nvPr/>
        </p:nvSpPr>
        <p:spPr>
          <a:xfrm>
            <a:off x="6766560" y="1828800"/>
            <a:ext cx="1920240" cy="0"/>
          </a:xfrm>
          <a:prstGeom prst="line">
            <a:avLst/>
          </a:prstGeom>
          <a:noFill/>
          <a:ln w="31750">
            <a:solidFill>
              <a:srgbClr val="0B0B0B"/>
            </a:solidFill>
            <a:prstDash val="solid"/>
          </a:ln>
        </p:spPr>
      </p:sp>
      <p:sp>
        <p:nvSpPr>
          <p:cNvPr id="17" name="Text 15"/>
          <p:cNvSpPr txBox="1"/>
          <p:nvPr/>
        </p:nvSpPr>
        <p:spPr>
          <a:xfrm>
            <a:off x="6766560" y="1901952"/>
            <a:ext cx="1920240" cy="411480"/>
          </a:xfrm>
          <a:prstGeom prst="rect">
            <a:avLst/>
          </a:prstGeom>
          <a:noFill/>
          <a:ln/>
        </p:spPr>
        <p:txBody>
          <a:bodyPr wrap="square" lIns="0" tIns="0" rIns="0" bIns="0" rtlCol="0" anchor="t"/>
          <a:lstStyle/>
          <a:p>
            <a:pPr indent="0" marL="0">
              <a:buNone/>
            </a:pPr>
            <a:r>
              <a:rPr lang="en-US" sz="2000" dirty="0">
                <a:solidFill>
                  <a:srgbClr val="FF2A1A"/>
                </a:solidFill>
                <a:latin typeface="Impact" pitchFamily="34" charset="0"/>
                <a:ea typeface="Impact" pitchFamily="34" charset="-122"/>
                <a:cs typeface="Impact" pitchFamily="34" charset="-120"/>
              </a:rPr>
              <a:t>04</a:t>
            </a:r>
            <a:endParaRPr lang="en-US" sz="2000" dirty="0"/>
          </a:p>
        </p:txBody>
      </p:sp>
      <p:sp>
        <p:nvSpPr>
          <p:cNvPr id="18" name="Text 16"/>
          <p:cNvSpPr txBox="1"/>
          <p:nvPr/>
        </p:nvSpPr>
        <p:spPr>
          <a:xfrm>
            <a:off x="6766560" y="228600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NILAI DAN NORMA</a:t>
            </a:r>
            <a:endParaRPr lang="en-US" sz="1600" dirty="0"/>
          </a:p>
        </p:txBody>
      </p:sp>
      <p:sp>
        <p:nvSpPr>
          <p:cNvPr id="19" name="Text 17"/>
          <p:cNvSpPr txBox="1"/>
          <p:nvPr/>
        </p:nvSpPr>
        <p:spPr>
          <a:xfrm>
            <a:off x="6766560" y="2542032"/>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Bentuk, tanam, jaga</a:t>
            </a:r>
            <a:endParaRPr lang="en-US" sz="1250" dirty="0"/>
          </a:p>
        </p:txBody>
      </p:sp>
      <p:sp>
        <p:nvSpPr>
          <p:cNvPr id="20" name="Shape 18"/>
          <p:cNvSpPr/>
          <p:nvPr/>
        </p:nvSpPr>
        <p:spPr>
          <a:xfrm>
            <a:off x="457200" y="3154680"/>
            <a:ext cx="1920240" cy="0"/>
          </a:xfrm>
          <a:prstGeom prst="line">
            <a:avLst/>
          </a:prstGeom>
          <a:noFill/>
          <a:ln w="31750">
            <a:solidFill>
              <a:srgbClr val="0B0B0B"/>
            </a:solidFill>
            <a:prstDash val="solid"/>
          </a:ln>
        </p:spPr>
      </p:sp>
      <p:sp>
        <p:nvSpPr>
          <p:cNvPr id="21" name="Text 19"/>
          <p:cNvSpPr txBox="1"/>
          <p:nvPr/>
        </p:nvSpPr>
        <p:spPr>
          <a:xfrm>
            <a:off x="457200" y="3227832"/>
            <a:ext cx="1920240" cy="411480"/>
          </a:xfrm>
          <a:prstGeom prst="rect">
            <a:avLst/>
          </a:prstGeom>
          <a:noFill/>
          <a:ln/>
        </p:spPr>
        <p:txBody>
          <a:bodyPr wrap="square" lIns="0" tIns="0" rIns="0" bIns="0" rtlCol="0" anchor="t"/>
          <a:lstStyle/>
          <a:p>
            <a:pPr indent="0" marL="0">
              <a:buNone/>
            </a:pPr>
            <a:r>
              <a:rPr lang="en-US" sz="2000" dirty="0">
                <a:solidFill>
                  <a:srgbClr val="FF2A1A"/>
                </a:solidFill>
                <a:latin typeface="Impact" pitchFamily="34" charset="0"/>
                <a:ea typeface="Impact" pitchFamily="34" charset="-122"/>
                <a:cs typeface="Impact" pitchFamily="34" charset="-120"/>
              </a:rPr>
              <a:t>05</a:t>
            </a:r>
            <a:endParaRPr lang="en-US" sz="2000" dirty="0"/>
          </a:p>
        </p:txBody>
      </p:sp>
      <p:sp>
        <p:nvSpPr>
          <p:cNvPr id="22" name="Text 20"/>
          <p:cNvSpPr txBox="1"/>
          <p:nvPr/>
        </p:nvSpPr>
        <p:spPr>
          <a:xfrm>
            <a:off x="457200" y="361188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IKLIM</a:t>
            </a:r>
            <a:endParaRPr lang="en-US" sz="1600" dirty="0"/>
          </a:p>
        </p:txBody>
      </p:sp>
      <p:sp>
        <p:nvSpPr>
          <p:cNvPr id="23" name="Text 21"/>
          <p:cNvSpPr txBox="1"/>
          <p:nvPr/>
        </p:nvSpPr>
        <p:spPr>
          <a:xfrm>
            <a:off x="457200" y="3867912"/>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Budaya vs iklim</a:t>
            </a:r>
            <a:endParaRPr lang="en-US" sz="1250" dirty="0"/>
          </a:p>
        </p:txBody>
      </p:sp>
      <p:sp>
        <p:nvSpPr>
          <p:cNvPr id="24" name="Shape 22"/>
          <p:cNvSpPr/>
          <p:nvPr/>
        </p:nvSpPr>
        <p:spPr>
          <a:xfrm>
            <a:off x="2560320" y="3154680"/>
            <a:ext cx="1920240" cy="0"/>
          </a:xfrm>
          <a:prstGeom prst="line">
            <a:avLst/>
          </a:prstGeom>
          <a:noFill/>
          <a:ln w="31750">
            <a:solidFill>
              <a:srgbClr val="0B0B0B"/>
            </a:solidFill>
            <a:prstDash val="solid"/>
          </a:ln>
        </p:spPr>
      </p:sp>
      <p:sp>
        <p:nvSpPr>
          <p:cNvPr id="25" name="Text 23"/>
          <p:cNvSpPr txBox="1"/>
          <p:nvPr/>
        </p:nvSpPr>
        <p:spPr>
          <a:xfrm>
            <a:off x="2560320" y="3227832"/>
            <a:ext cx="1920240" cy="411480"/>
          </a:xfrm>
          <a:prstGeom prst="rect">
            <a:avLst/>
          </a:prstGeom>
          <a:noFill/>
          <a:ln/>
        </p:spPr>
        <p:txBody>
          <a:bodyPr wrap="square" lIns="0" tIns="0" rIns="0" bIns="0" rtlCol="0" anchor="t"/>
          <a:lstStyle/>
          <a:p>
            <a:pPr indent="0" marL="0">
              <a:buNone/>
            </a:pPr>
            <a:r>
              <a:rPr lang="en-US" sz="2000" dirty="0">
                <a:solidFill>
                  <a:srgbClr val="FF2A1A"/>
                </a:solidFill>
                <a:latin typeface="Impact" pitchFamily="34" charset="0"/>
                <a:ea typeface="Impact" pitchFamily="34" charset="-122"/>
                <a:cs typeface="Impact" pitchFamily="34" charset="-120"/>
              </a:rPr>
              <a:t>06</a:t>
            </a:r>
            <a:endParaRPr lang="en-US" sz="2000" dirty="0"/>
          </a:p>
        </p:txBody>
      </p:sp>
      <p:sp>
        <p:nvSpPr>
          <p:cNvPr id="26" name="Text 24"/>
          <p:cNvSpPr txBox="1"/>
          <p:nvPr/>
        </p:nvSpPr>
        <p:spPr>
          <a:xfrm>
            <a:off x="2560320" y="361188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KEPERCAYAAN DAN KESEHATAN</a:t>
            </a:r>
            <a:endParaRPr lang="en-US" sz="1600" dirty="0"/>
          </a:p>
        </p:txBody>
      </p:sp>
      <p:sp>
        <p:nvSpPr>
          <p:cNvPr id="27" name="Text 25"/>
          <p:cNvSpPr txBox="1"/>
          <p:nvPr/>
        </p:nvSpPr>
        <p:spPr>
          <a:xfrm>
            <a:off x="2560320" y="4096512"/>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Trust dan health</a:t>
            </a:r>
            <a:endParaRPr lang="en-US" sz="1250" dirty="0"/>
          </a:p>
        </p:txBody>
      </p:sp>
      <p:sp>
        <p:nvSpPr>
          <p:cNvPr id="28" name="Shape 26"/>
          <p:cNvSpPr/>
          <p:nvPr/>
        </p:nvSpPr>
        <p:spPr>
          <a:xfrm>
            <a:off x="4663440" y="3154680"/>
            <a:ext cx="1920240" cy="0"/>
          </a:xfrm>
          <a:prstGeom prst="line">
            <a:avLst/>
          </a:prstGeom>
          <a:noFill/>
          <a:ln w="31750">
            <a:solidFill>
              <a:srgbClr val="0B0B0B"/>
            </a:solidFill>
            <a:prstDash val="solid"/>
          </a:ln>
        </p:spPr>
      </p:sp>
      <p:sp>
        <p:nvSpPr>
          <p:cNvPr id="29" name="Text 27"/>
          <p:cNvSpPr txBox="1"/>
          <p:nvPr/>
        </p:nvSpPr>
        <p:spPr>
          <a:xfrm>
            <a:off x="4663440" y="3227832"/>
            <a:ext cx="1920240" cy="411480"/>
          </a:xfrm>
          <a:prstGeom prst="rect">
            <a:avLst/>
          </a:prstGeom>
          <a:noFill/>
          <a:ln/>
        </p:spPr>
        <p:txBody>
          <a:bodyPr wrap="square" lIns="0" tIns="0" rIns="0" bIns="0" rtlCol="0" anchor="t"/>
          <a:lstStyle/>
          <a:p>
            <a:pPr indent="0" marL="0">
              <a:buNone/>
            </a:pPr>
            <a:r>
              <a:rPr lang="en-US" sz="2000" dirty="0">
                <a:solidFill>
                  <a:srgbClr val="FF2A1A"/>
                </a:solidFill>
                <a:latin typeface="Impact" pitchFamily="34" charset="0"/>
                <a:ea typeface="Impact" pitchFamily="34" charset="-122"/>
                <a:cs typeface="Impact" pitchFamily="34" charset="-120"/>
              </a:rPr>
              <a:t>07</a:t>
            </a:r>
            <a:endParaRPr lang="en-US" sz="2000" dirty="0"/>
          </a:p>
        </p:txBody>
      </p:sp>
      <p:sp>
        <p:nvSpPr>
          <p:cNvPr id="30" name="Text 28"/>
          <p:cNvSpPr txBox="1"/>
          <p:nvPr/>
        </p:nvSpPr>
        <p:spPr>
          <a:xfrm>
            <a:off x="4663440" y="361188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PERUBAHAN</a:t>
            </a:r>
            <a:endParaRPr lang="en-US" sz="1600" dirty="0"/>
          </a:p>
        </p:txBody>
      </p:sp>
      <p:sp>
        <p:nvSpPr>
          <p:cNvPr id="31" name="Text 29"/>
          <p:cNvSpPr txBox="1"/>
          <p:nvPr/>
        </p:nvSpPr>
        <p:spPr>
          <a:xfrm>
            <a:off x="4663440" y="3867912"/>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Strategi dan resistensi</a:t>
            </a:r>
            <a:endParaRPr lang="en-US" sz="1250" dirty="0"/>
          </a:p>
        </p:txBody>
      </p:sp>
      <p:sp>
        <p:nvSpPr>
          <p:cNvPr id="32" name="Shape 30"/>
          <p:cNvSpPr/>
          <p:nvPr/>
        </p:nvSpPr>
        <p:spPr>
          <a:xfrm>
            <a:off x="6766560" y="3154680"/>
            <a:ext cx="1920240" cy="0"/>
          </a:xfrm>
          <a:prstGeom prst="line">
            <a:avLst/>
          </a:prstGeom>
          <a:noFill/>
          <a:ln w="31750">
            <a:solidFill>
              <a:srgbClr val="0B0B0B"/>
            </a:solidFill>
            <a:prstDash val="solid"/>
          </a:ln>
        </p:spPr>
      </p:sp>
      <p:sp>
        <p:nvSpPr>
          <p:cNvPr id="33" name="Text 31"/>
          <p:cNvSpPr txBox="1"/>
          <p:nvPr/>
        </p:nvSpPr>
        <p:spPr>
          <a:xfrm>
            <a:off x="6766560" y="3227832"/>
            <a:ext cx="1920240" cy="411480"/>
          </a:xfrm>
          <a:prstGeom prst="rect">
            <a:avLst/>
          </a:prstGeom>
          <a:noFill/>
          <a:ln/>
        </p:spPr>
        <p:txBody>
          <a:bodyPr wrap="square" lIns="0" tIns="0" rIns="0" bIns="0" rtlCol="0" anchor="t"/>
          <a:lstStyle/>
          <a:p>
            <a:pPr indent="0" marL="0">
              <a:buNone/>
            </a:pPr>
            <a:r>
              <a:rPr lang="en-US" sz="2000" dirty="0">
                <a:solidFill>
                  <a:srgbClr val="FF2A1A"/>
                </a:solidFill>
                <a:latin typeface="Impact" pitchFamily="34" charset="0"/>
                <a:ea typeface="Impact" pitchFamily="34" charset="-122"/>
                <a:cs typeface="Impact" pitchFamily="34" charset="-120"/>
              </a:rPr>
              <a:t>08</a:t>
            </a:r>
            <a:endParaRPr lang="en-US" sz="2000" dirty="0"/>
          </a:p>
        </p:txBody>
      </p:sp>
      <p:sp>
        <p:nvSpPr>
          <p:cNvPr id="34" name="Text 32"/>
          <p:cNvSpPr txBox="1"/>
          <p:nvPr/>
        </p:nvSpPr>
        <p:spPr>
          <a:xfrm>
            <a:off x="6766560" y="361188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PENUTUP</a:t>
            </a:r>
            <a:endParaRPr lang="en-US" sz="1600" dirty="0"/>
          </a:p>
        </p:txBody>
      </p:sp>
      <p:sp>
        <p:nvSpPr>
          <p:cNvPr id="35" name="Text 33"/>
          <p:cNvSpPr txBox="1"/>
          <p:nvPr/>
        </p:nvSpPr>
        <p:spPr>
          <a:xfrm>
            <a:off x="6766560" y="3867912"/>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Simpulan dan saran</a:t>
            </a:r>
            <a:endParaRPr lang="en-US" sz="1250" dirty="0"/>
          </a:p>
        </p:txBody>
      </p:sp>
      <p:pic>
        <p:nvPicPr>
          <p:cNvPr id="36"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
        <p:nvSpPr>
          <p:cNvPr id="37" name="Text 34"/>
          <p:cNvSpPr txBox="1"/>
          <p:nvPr/>
        </p:nvSpPr>
        <p:spPr>
          <a:xfrm>
            <a:off x="960120" y="4754880"/>
            <a:ext cx="6949440" cy="274320"/>
          </a:xfrm>
          <a:prstGeom prst="rect">
            <a:avLst/>
          </a:prstGeom>
          <a:noFill/>
          <a:ln/>
        </p:spPr>
        <p:txBody>
          <a:bodyPr wrap="square" lIns="0" tIns="0" rIns="0" bIns="0" rtlCol="0" anchor="t"/>
          <a:lstStyle/>
          <a:p>
            <a:pPr indent="0" marL="0">
              <a:buNone/>
            </a:pPr>
            <a:r>
              <a:rPr lang="en-US" sz="900" dirty="0">
                <a:solidFill>
                  <a:srgbClr val="444444"/>
                </a:solidFill>
                <a:latin typeface="Arial Narrow" pitchFamily="34" charset="0"/>
                <a:ea typeface="Arial Narrow" pitchFamily="34" charset="-122"/>
                <a:cs typeface="Arial Narrow" pitchFamily="34" charset="-120"/>
              </a:rPr>
              <a:t>Sumber: Bab I sampai IV makalah; Hoy &amp; Miskel (2008)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502920"/>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KESENJANGAN</a:t>
            </a:r>
            <a:endParaRPr lang="en-US" sz="4600" dirty="0"/>
          </a:p>
        </p:txBody>
      </p:sp>
      <p:sp>
        <p:nvSpPr>
          <p:cNvPr id="3" name="Text 1"/>
          <p:cNvSpPr txBox="1"/>
          <p:nvPr/>
        </p:nvSpPr>
        <p:spPr>
          <a:xfrm>
            <a:off x="786384" y="1075894"/>
            <a:ext cx="3931920" cy="618694"/>
          </a:xfrm>
          <a:prstGeom prst="rect">
            <a:avLst/>
          </a:prstGeom>
          <a:noFill/>
          <a:ln/>
        </p:spPr>
        <p:txBody>
          <a:bodyPr wrap="none" lIns="0" tIns="0" rIns="0" bIns="0" rtlCol="0" anchor="t"/>
          <a:lstStyle/>
          <a:p>
            <a:pPr indent="0" marL="0">
              <a:buNone/>
            </a:pPr>
            <a:r>
              <a:rPr lang="en-US" sz="4600" dirty="0">
                <a:solidFill>
                  <a:srgbClr val="FF2A1A"/>
                </a:solidFill>
                <a:latin typeface="Impact" pitchFamily="34" charset="0"/>
                <a:ea typeface="Impact" pitchFamily="34" charset="-122"/>
                <a:cs typeface="Impact" pitchFamily="34" charset="-120"/>
              </a:rPr>
              <a:t>IDEAL</a:t>
            </a:r>
            <a:endParaRPr lang="en-US" sz="4600" dirty="0"/>
          </a:p>
        </p:txBody>
      </p:sp>
      <p:sp>
        <p:nvSpPr>
          <p:cNvPr id="4" name="Text 2"/>
          <p:cNvSpPr txBox="1"/>
          <p:nvPr/>
        </p:nvSpPr>
        <p:spPr>
          <a:xfrm>
            <a:off x="457200" y="1648868"/>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&amp; REALITA</a:t>
            </a:r>
            <a:endParaRPr lang="en-US" sz="4600" dirty="0"/>
          </a:p>
        </p:txBody>
      </p:sp>
      <p:sp>
        <p:nvSpPr>
          <p:cNvPr id="5" name="Shape 3"/>
          <p:cNvSpPr/>
          <p:nvPr/>
        </p:nvSpPr>
        <p:spPr>
          <a:xfrm>
            <a:off x="4297680" y="502920"/>
            <a:ext cx="4389120" cy="0"/>
          </a:xfrm>
          <a:prstGeom prst="line">
            <a:avLst/>
          </a:prstGeom>
          <a:noFill/>
          <a:ln w="31750">
            <a:solidFill>
              <a:srgbClr val="0B0B0B"/>
            </a:solidFill>
            <a:prstDash val="solid"/>
          </a:ln>
        </p:spPr>
      </p:sp>
      <p:sp>
        <p:nvSpPr>
          <p:cNvPr id="6" name="Shape 4"/>
          <p:cNvSpPr/>
          <p:nvPr/>
        </p:nvSpPr>
        <p:spPr>
          <a:xfrm>
            <a:off x="4297680" y="640080"/>
            <a:ext cx="457200" cy="457200"/>
          </a:xfrm>
          <a:prstGeom prst="ellipse">
            <a:avLst/>
          </a:prstGeom>
          <a:solidFill>
            <a:srgbClr val="0B0B0B"/>
          </a:solidFill>
          <a:ln w="12700">
            <a:solidFill>
              <a:srgbClr val="0B0B0B"/>
            </a:solidFill>
            <a:prstDash val="solid"/>
          </a:ln>
        </p:spPr>
      </p:sp>
      <p:sp>
        <p:nvSpPr>
          <p:cNvPr id="7" name="Text 5"/>
          <p:cNvSpPr txBox="1"/>
          <p:nvPr/>
        </p:nvSpPr>
        <p:spPr>
          <a:xfrm>
            <a:off x="4297680" y="64008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01</a:t>
            </a:r>
            <a:endParaRPr lang="en-US" sz="1300" dirty="0"/>
          </a:p>
        </p:txBody>
      </p:sp>
      <p:sp>
        <p:nvSpPr>
          <p:cNvPr id="8" name="Text 6"/>
          <p:cNvSpPr txBox="1"/>
          <p:nvPr/>
        </p:nvSpPr>
        <p:spPr>
          <a:xfrm>
            <a:off x="4937760" y="61264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IDEAL</a:t>
            </a:r>
            <a:endParaRPr lang="en-US" sz="1500" dirty="0"/>
          </a:p>
        </p:txBody>
      </p:sp>
      <p:sp>
        <p:nvSpPr>
          <p:cNvPr id="9" name="Text 7"/>
          <p:cNvSpPr txBox="1"/>
          <p:nvPr/>
        </p:nvSpPr>
        <p:spPr>
          <a:xfrm>
            <a:off x="4937760" y="91440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Struktur, individu, budaya, politik selaras</a:t>
            </a:r>
            <a:endParaRPr lang="en-US" sz="1250" dirty="0"/>
          </a:p>
        </p:txBody>
      </p:sp>
      <p:sp>
        <p:nvSpPr>
          <p:cNvPr id="10" name="Text 8"/>
          <p:cNvSpPr txBox="1"/>
          <p:nvPr/>
        </p:nvSpPr>
        <p:spPr>
          <a:xfrm>
            <a:off x="4937760" y="127101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11" name="Shape 9"/>
          <p:cNvSpPr/>
          <p:nvPr/>
        </p:nvSpPr>
        <p:spPr>
          <a:xfrm>
            <a:off x="4297680" y="1463040"/>
            <a:ext cx="4389120" cy="0"/>
          </a:xfrm>
          <a:prstGeom prst="line">
            <a:avLst/>
          </a:prstGeom>
          <a:noFill/>
          <a:ln w="31750">
            <a:solidFill>
              <a:srgbClr val="0B0B0B"/>
            </a:solidFill>
            <a:prstDash val="solid"/>
          </a:ln>
        </p:spPr>
      </p:sp>
      <p:sp>
        <p:nvSpPr>
          <p:cNvPr id="12" name="Shape 10"/>
          <p:cNvSpPr/>
          <p:nvPr/>
        </p:nvSpPr>
        <p:spPr>
          <a:xfrm>
            <a:off x="4297680" y="1600200"/>
            <a:ext cx="457200" cy="457200"/>
          </a:xfrm>
          <a:prstGeom prst="ellipse">
            <a:avLst/>
          </a:prstGeom>
          <a:solidFill>
            <a:srgbClr val="FF2A1A"/>
          </a:solidFill>
          <a:ln w="12700">
            <a:solidFill>
              <a:srgbClr val="FF2A1A"/>
            </a:solidFill>
            <a:prstDash val="solid"/>
          </a:ln>
        </p:spPr>
      </p:sp>
      <p:sp>
        <p:nvSpPr>
          <p:cNvPr id="13" name="Text 11"/>
          <p:cNvSpPr txBox="1"/>
          <p:nvPr/>
        </p:nvSpPr>
        <p:spPr>
          <a:xfrm>
            <a:off x="4297680"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02</a:t>
            </a:r>
            <a:endParaRPr lang="en-US" sz="1300" dirty="0"/>
          </a:p>
        </p:txBody>
      </p:sp>
      <p:sp>
        <p:nvSpPr>
          <p:cNvPr id="14" name="Text 12"/>
          <p:cNvSpPr txBox="1"/>
          <p:nvPr/>
        </p:nvSpPr>
        <p:spPr>
          <a:xfrm>
            <a:off x="4937760" y="157276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MOTIVASI GURU RENDAH</a:t>
            </a:r>
            <a:endParaRPr lang="en-US" sz="1500" dirty="0"/>
          </a:p>
        </p:txBody>
      </p:sp>
      <p:sp>
        <p:nvSpPr>
          <p:cNvPr id="15" name="Text 13"/>
          <p:cNvSpPr txBox="1"/>
          <p:nvPr/>
        </p:nvSpPr>
        <p:spPr>
          <a:xfrm>
            <a:off x="4937760" y="187452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Nilai dan slogan belum dihayati</a:t>
            </a:r>
            <a:endParaRPr lang="en-US" sz="1250" dirty="0"/>
          </a:p>
        </p:txBody>
      </p:sp>
      <p:sp>
        <p:nvSpPr>
          <p:cNvPr id="16" name="Text 14"/>
          <p:cNvSpPr txBox="1"/>
          <p:nvPr/>
        </p:nvSpPr>
        <p:spPr>
          <a:xfrm>
            <a:off x="4937760" y="223113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(Fandholi dkk., 2023)</a:t>
            </a:r>
            <a:endParaRPr lang="en-US" sz="900" dirty="0"/>
          </a:p>
        </p:txBody>
      </p:sp>
      <p:sp>
        <p:nvSpPr>
          <p:cNvPr id="17" name="Shape 15"/>
          <p:cNvSpPr/>
          <p:nvPr/>
        </p:nvSpPr>
        <p:spPr>
          <a:xfrm>
            <a:off x="4297680" y="2423160"/>
            <a:ext cx="4389120" cy="0"/>
          </a:xfrm>
          <a:prstGeom prst="line">
            <a:avLst/>
          </a:prstGeom>
          <a:noFill/>
          <a:ln w="31750">
            <a:solidFill>
              <a:srgbClr val="0B0B0B"/>
            </a:solidFill>
            <a:prstDash val="solid"/>
          </a:ln>
        </p:spPr>
      </p:sp>
      <p:sp>
        <p:nvSpPr>
          <p:cNvPr id="18" name="Shape 16"/>
          <p:cNvSpPr/>
          <p:nvPr/>
        </p:nvSpPr>
        <p:spPr>
          <a:xfrm>
            <a:off x="4297680" y="2560320"/>
            <a:ext cx="457200" cy="457200"/>
          </a:xfrm>
          <a:prstGeom prst="ellipse">
            <a:avLst/>
          </a:prstGeom>
          <a:solidFill>
            <a:srgbClr val="0B0B0B"/>
          </a:solidFill>
          <a:ln w="12700">
            <a:solidFill>
              <a:srgbClr val="0B0B0B"/>
            </a:solidFill>
            <a:prstDash val="solid"/>
          </a:ln>
        </p:spPr>
      </p:sp>
      <p:sp>
        <p:nvSpPr>
          <p:cNvPr id="19" name="Text 17"/>
          <p:cNvSpPr txBox="1"/>
          <p:nvPr/>
        </p:nvSpPr>
        <p:spPr>
          <a:xfrm>
            <a:off x="4297680" y="256032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03</a:t>
            </a:r>
            <a:endParaRPr lang="en-US" sz="1300" dirty="0"/>
          </a:p>
        </p:txBody>
      </p:sp>
      <p:sp>
        <p:nvSpPr>
          <p:cNvPr id="20" name="Text 18"/>
          <p:cNvSpPr txBox="1"/>
          <p:nvPr/>
        </p:nvSpPr>
        <p:spPr>
          <a:xfrm>
            <a:off x="4937760" y="253288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KOMUNIKASI LEMAH</a:t>
            </a:r>
            <a:endParaRPr lang="en-US" sz="1500" dirty="0"/>
          </a:p>
        </p:txBody>
      </p:sp>
      <p:sp>
        <p:nvSpPr>
          <p:cNvPr id="21" name="Text 19"/>
          <p:cNvSpPr txBox="1"/>
          <p:nvPr/>
        </p:nvSpPr>
        <p:spPr>
          <a:xfrm>
            <a:off x="4937760" y="283464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Pimpinan dan staf, komitmen guru turun</a:t>
            </a:r>
            <a:endParaRPr lang="en-US" sz="1250" dirty="0"/>
          </a:p>
        </p:txBody>
      </p:sp>
      <p:sp>
        <p:nvSpPr>
          <p:cNvPr id="22" name="Text 20"/>
          <p:cNvSpPr txBox="1"/>
          <p:nvPr/>
        </p:nvSpPr>
        <p:spPr>
          <a:xfrm>
            <a:off x="4937760" y="319125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(Nurlathifah &amp; Hidayat, 2025)</a:t>
            </a:r>
            <a:endParaRPr lang="en-US" sz="900" dirty="0"/>
          </a:p>
        </p:txBody>
      </p:sp>
      <p:sp>
        <p:nvSpPr>
          <p:cNvPr id="23" name="Shape 21"/>
          <p:cNvSpPr/>
          <p:nvPr/>
        </p:nvSpPr>
        <p:spPr>
          <a:xfrm>
            <a:off x="4297680" y="3383280"/>
            <a:ext cx="4389120" cy="0"/>
          </a:xfrm>
          <a:prstGeom prst="line">
            <a:avLst/>
          </a:prstGeom>
          <a:noFill/>
          <a:ln w="31750">
            <a:solidFill>
              <a:srgbClr val="0B0B0B"/>
            </a:solidFill>
            <a:prstDash val="solid"/>
          </a:ln>
        </p:spPr>
      </p:sp>
      <p:sp>
        <p:nvSpPr>
          <p:cNvPr id="24" name="Shape 22"/>
          <p:cNvSpPr/>
          <p:nvPr/>
        </p:nvSpPr>
        <p:spPr>
          <a:xfrm>
            <a:off x="4297680" y="3520440"/>
            <a:ext cx="457200" cy="457200"/>
          </a:xfrm>
          <a:prstGeom prst="ellipse">
            <a:avLst/>
          </a:prstGeom>
          <a:solidFill>
            <a:srgbClr val="FF2A1A"/>
          </a:solidFill>
          <a:ln w="12700">
            <a:solidFill>
              <a:srgbClr val="FF2A1A"/>
            </a:solidFill>
            <a:prstDash val="solid"/>
          </a:ln>
        </p:spPr>
      </p:sp>
      <p:sp>
        <p:nvSpPr>
          <p:cNvPr id="25" name="Text 23"/>
          <p:cNvSpPr txBox="1"/>
          <p:nvPr/>
        </p:nvSpPr>
        <p:spPr>
          <a:xfrm>
            <a:off x="4297680" y="352044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04</a:t>
            </a:r>
            <a:endParaRPr lang="en-US" sz="1300" dirty="0"/>
          </a:p>
        </p:txBody>
      </p:sp>
      <p:sp>
        <p:nvSpPr>
          <p:cNvPr id="26" name="Text 24"/>
          <p:cNvSpPr txBox="1"/>
          <p:nvPr/>
        </p:nvSpPr>
        <p:spPr>
          <a:xfrm>
            <a:off x="4937760" y="349300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SEKADAR ADMINISTRATIF</a:t>
            </a:r>
            <a:endParaRPr lang="en-US" sz="1500" dirty="0"/>
          </a:p>
        </p:txBody>
      </p:sp>
      <p:sp>
        <p:nvSpPr>
          <p:cNvPr id="27" name="Text 25"/>
          <p:cNvSpPr txBox="1"/>
          <p:nvPr/>
        </p:nvSpPr>
        <p:spPr>
          <a:xfrm>
            <a:off x="4937760" y="379476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Inovasi pembelajaran tertekan</a:t>
            </a:r>
            <a:endParaRPr lang="en-US" sz="1250" dirty="0"/>
          </a:p>
        </p:txBody>
      </p:sp>
      <p:sp>
        <p:nvSpPr>
          <p:cNvPr id="28" name="Text 26"/>
          <p:cNvSpPr txBox="1"/>
          <p:nvPr/>
        </p:nvSpPr>
        <p:spPr>
          <a:xfrm>
            <a:off x="4937760" y="415137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(Murniati &amp; Sudana, 2023)</a:t>
            </a:r>
            <a:endParaRPr lang="en-US" sz="900" dirty="0"/>
          </a:p>
        </p:txBody>
      </p:sp>
      <p:pic>
        <p:nvPicPr>
          <p:cNvPr id="29"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718342"/>
          </a:xfrm>
          <a:prstGeom prst="rect">
            <a:avLst/>
          </a:prstGeom>
          <a:noFill/>
          <a:ln/>
        </p:spPr>
        <p:txBody>
          <a:bodyPr wrap="none" lIns="0" tIns="0" rIns="0" bIns="0" rtlCol="0" anchor="t"/>
          <a:lstStyle/>
          <a:p>
            <a:pPr indent="0" marL="0">
              <a:buNone/>
            </a:pPr>
            <a:r>
              <a:rPr lang="en-US" sz="5400" dirty="0">
                <a:solidFill>
                  <a:srgbClr val="0B0B0B"/>
                </a:solidFill>
                <a:latin typeface="Impact" pitchFamily="34" charset="0"/>
                <a:ea typeface="Impact" pitchFamily="34" charset="-122"/>
                <a:cs typeface="Impact" pitchFamily="34" charset="-120"/>
              </a:rPr>
              <a:t>RUMUSAN</a:t>
            </a:r>
            <a:endParaRPr lang="en-US" sz="5400" dirty="0"/>
          </a:p>
        </p:txBody>
      </p:sp>
      <p:sp>
        <p:nvSpPr>
          <p:cNvPr id="3" name="Text 1"/>
          <p:cNvSpPr txBox="1"/>
          <p:nvPr/>
        </p:nvSpPr>
        <p:spPr>
          <a:xfrm>
            <a:off x="786384" y="1084102"/>
            <a:ext cx="8229600" cy="718342"/>
          </a:xfrm>
          <a:prstGeom prst="rect">
            <a:avLst/>
          </a:prstGeom>
          <a:noFill/>
          <a:ln/>
        </p:spPr>
        <p:txBody>
          <a:bodyPr wrap="none" lIns="0" tIns="0" rIns="0" bIns="0" rtlCol="0" anchor="t"/>
          <a:lstStyle/>
          <a:p>
            <a:pPr indent="0" marL="0">
              <a:buNone/>
            </a:pPr>
            <a:r>
              <a:rPr lang="en-US" sz="5400" dirty="0">
                <a:solidFill>
                  <a:srgbClr val="FF2A1A"/>
                </a:solidFill>
                <a:latin typeface="Impact" pitchFamily="34" charset="0"/>
                <a:ea typeface="Impact" pitchFamily="34" charset="-122"/>
                <a:cs typeface="Impact" pitchFamily="34" charset="-120"/>
              </a:rPr>
              <a:t>MASALAH</a:t>
            </a:r>
            <a:endParaRPr lang="en-US" sz="5400" dirty="0"/>
          </a:p>
        </p:txBody>
      </p:sp>
      <p:sp>
        <p:nvSpPr>
          <p:cNvPr id="4" name="Shape 2"/>
          <p:cNvSpPr/>
          <p:nvPr/>
        </p:nvSpPr>
        <p:spPr>
          <a:xfrm>
            <a:off x="457200" y="2514600"/>
            <a:ext cx="1499616" cy="0"/>
          </a:xfrm>
          <a:prstGeom prst="line">
            <a:avLst/>
          </a:prstGeom>
          <a:noFill/>
          <a:ln w="31750">
            <a:solidFill>
              <a:srgbClr val="0B0B0B"/>
            </a:solidFill>
            <a:prstDash val="solid"/>
          </a:ln>
        </p:spPr>
      </p:sp>
      <p:sp>
        <p:nvSpPr>
          <p:cNvPr id="5" name="Text 3"/>
          <p:cNvSpPr txBox="1"/>
          <p:nvPr/>
        </p:nvSpPr>
        <p:spPr>
          <a:xfrm>
            <a:off x="457200"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01</a:t>
            </a:r>
            <a:endParaRPr lang="en-US" sz="3000" dirty="0"/>
          </a:p>
        </p:txBody>
      </p:sp>
      <p:sp>
        <p:nvSpPr>
          <p:cNvPr id="6" name="Text 4"/>
          <p:cNvSpPr txBox="1"/>
          <p:nvPr/>
        </p:nvSpPr>
        <p:spPr>
          <a:xfrm>
            <a:off x="457200"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LEVEL BUDAYA</a:t>
            </a:r>
            <a:endParaRPr lang="en-US" sz="1400" dirty="0"/>
          </a:p>
        </p:txBody>
      </p:sp>
      <p:sp>
        <p:nvSpPr>
          <p:cNvPr id="7" name="Text 5"/>
          <p:cNvSpPr txBox="1"/>
          <p:nvPr/>
        </p:nvSpPr>
        <p:spPr>
          <a:xfrm>
            <a:off x="457200" y="37033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Konsep dan penerapan di lembaga Islam</a:t>
            </a:r>
            <a:endParaRPr lang="en-US" sz="1100" dirty="0"/>
          </a:p>
        </p:txBody>
      </p:sp>
      <p:sp>
        <p:nvSpPr>
          <p:cNvPr id="8" name="Shape 6"/>
          <p:cNvSpPr/>
          <p:nvPr/>
        </p:nvSpPr>
        <p:spPr>
          <a:xfrm>
            <a:off x="2139696" y="2514600"/>
            <a:ext cx="1499616" cy="0"/>
          </a:xfrm>
          <a:prstGeom prst="line">
            <a:avLst/>
          </a:prstGeom>
          <a:noFill/>
          <a:ln w="31750">
            <a:solidFill>
              <a:srgbClr val="0B0B0B"/>
            </a:solidFill>
            <a:prstDash val="solid"/>
          </a:ln>
        </p:spPr>
      </p:sp>
      <p:sp>
        <p:nvSpPr>
          <p:cNvPr id="9" name="Text 7"/>
          <p:cNvSpPr txBox="1"/>
          <p:nvPr/>
        </p:nvSpPr>
        <p:spPr>
          <a:xfrm>
            <a:off x="2139696"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02</a:t>
            </a:r>
            <a:endParaRPr lang="en-US" sz="3000" dirty="0"/>
          </a:p>
        </p:txBody>
      </p:sp>
      <p:sp>
        <p:nvSpPr>
          <p:cNvPr id="10" name="Text 8"/>
          <p:cNvSpPr txBox="1"/>
          <p:nvPr/>
        </p:nvSpPr>
        <p:spPr>
          <a:xfrm>
            <a:off x="2139696"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NILAI DAN NORMA</a:t>
            </a:r>
            <a:endParaRPr lang="en-US" sz="1400" dirty="0"/>
          </a:p>
        </p:txBody>
      </p:sp>
      <p:sp>
        <p:nvSpPr>
          <p:cNvPr id="11" name="Text 9"/>
          <p:cNvSpPr txBox="1"/>
          <p:nvPr/>
        </p:nvSpPr>
        <p:spPr>
          <a:xfrm>
            <a:off x="2139696" y="37033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Dibentuk, ditanam, dijaga</a:t>
            </a:r>
            <a:endParaRPr lang="en-US" sz="1100" dirty="0"/>
          </a:p>
        </p:txBody>
      </p:sp>
      <p:sp>
        <p:nvSpPr>
          <p:cNvPr id="12" name="Shape 10"/>
          <p:cNvSpPr/>
          <p:nvPr/>
        </p:nvSpPr>
        <p:spPr>
          <a:xfrm>
            <a:off x="3822192" y="2514600"/>
            <a:ext cx="1499616" cy="0"/>
          </a:xfrm>
          <a:prstGeom prst="line">
            <a:avLst/>
          </a:prstGeom>
          <a:noFill/>
          <a:ln w="31750">
            <a:solidFill>
              <a:srgbClr val="0B0B0B"/>
            </a:solidFill>
            <a:prstDash val="solid"/>
          </a:ln>
        </p:spPr>
      </p:sp>
      <p:sp>
        <p:nvSpPr>
          <p:cNvPr id="13" name="Text 11"/>
          <p:cNvSpPr txBox="1"/>
          <p:nvPr/>
        </p:nvSpPr>
        <p:spPr>
          <a:xfrm>
            <a:off x="3822192"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03</a:t>
            </a:r>
            <a:endParaRPr lang="en-US" sz="3000" dirty="0"/>
          </a:p>
        </p:txBody>
      </p:sp>
      <p:sp>
        <p:nvSpPr>
          <p:cNvPr id="14" name="Text 12"/>
          <p:cNvSpPr txBox="1"/>
          <p:nvPr/>
        </p:nvSpPr>
        <p:spPr>
          <a:xfrm>
            <a:off x="3822192"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BUDAYA VS IKLIM</a:t>
            </a:r>
            <a:endParaRPr lang="en-US" sz="1400" dirty="0"/>
          </a:p>
        </p:txBody>
      </p:sp>
      <p:sp>
        <p:nvSpPr>
          <p:cNvPr id="15" name="Text 13"/>
          <p:cNvSpPr txBox="1"/>
          <p:nvPr/>
        </p:nvSpPr>
        <p:spPr>
          <a:xfrm>
            <a:off x="3822192" y="37033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Membangun iklim kondusif</a:t>
            </a:r>
            <a:endParaRPr lang="en-US" sz="1100" dirty="0"/>
          </a:p>
        </p:txBody>
      </p:sp>
      <p:sp>
        <p:nvSpPr>
          <p:cNvPr id="16" name="Shape 14"/>
          <p:cNvSpPr/>
          <p:nvPr/>
        </p:nvSpPr>
        <p:spPr>
          <a:xfrm>
            <a:off x="5504688" y="2514600"/>
            <a:ext cx="1499616" cy="0"/>
          </a:xfrm>
          <a:prstGeom prst="line">
            <a:avLst/>
          </a:prstGeom>
          <a:noFill/>
          <a:ln w="31750">
            <a:solidFill>
              <a:srgbClr val="0B0B0B"/>
            </a:solidFill>
            <a:prstDash val="solid"/>
          </a:ln>
        </p:spPr>
      </p:sp>
      <p:sp>
        <p:nvSpPr>
          <p:cNvPr id="17" name="Text 15"/>
          <p:cNvSpPr txBox="1"/>
          <p:nvPr/>
        </p:nvSpPr>
        <p:spPr>
          <a:xfrm>
            <a:off x="5504688"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04</a:t>
            </a:r>
            <a:endParaRPr lang="en-US" sz="3000" dirty="0"/>
          </a:p>
        </p:txBody>
      </p:sp>
      <p:sp>
        <p:nvSpPr>
          <p:cNvPr id="18" name="Text 16"/>
          <p:cNvSpPr txBox="1"/>
          <p:nvPr/>
        </p:nvSpPr>
        <p:spPr>
          <a:xfrm>
            <a:off x="5504688"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TRUST DAN HEALTH</a:t>
            </a:r>
            <a:endParaRPr lang="en-US" sz="1400" dirty="0"/>
          </a:p>
        </p:txBody>
      </p:sp>
      <p:sp>
        <p:nvSpPr>
          <p:cNvPr id="19" name="Text 17"/>
          <p:cNvSpPr txBox="1"/>
          <p:nvPr/>
        </p:nvSpPr>
        <p:spPr>
          <a:xfrm>
            <a:off x="5504688" y="37033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Saling berkaitan</a:t>
            </a:r>
            <a:endParaRPr lang="en-US" sz="1100" dirty="0"/>
          </a:p>
        </p:txBody>
      </p:sp>
      <p:sp>
        <p:nvSpPr>
          <p:cNvPr id="20" name="Shape 18"/>
          <p:cNvSpPr/>
          <p:nvPr/>
        </p:nvSpPr>
        <p:spPr>
          <a:xfrm>
            <a:off x="7187184" y="2514600"/>
            <a:ext cx="1499616" cy="0"/>
          </a:xfrm>
          <a:prstGeom prst="line">
            <a:avLst/>
          </a:prstGeom>
          <a:noFill/>
          <a:ln w="31750">
            <a:solidFill>
              <a:srgbClr val="0B0B0B"/>
            </a:solidFill>
            <a:prstDash val="solid"/>
          </a:ln>
        </p:spPr>
      </p:sp>
      <p:sp>
        <p:nvSpPr>
          <p:cNvPr id="21" name="Text 19"/>
          <p:cNvSpPr txBox="1"/>
          <p:nvPr/>
        </p:nvSpPr>
        <p:spPr>
          <a:xfrm>
            <a:off x="7187184"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05</a:t>
            </a:r>
            <a:endParaRPr lang="en-US" sz="3000" dirty="0"/>
          </a:p>
        </p:txBody>
      </p:sp>
      <p:sp>
        <p:nvSpPr>
          <p:cNvPr id="22" name="Text 20"/>
          <p:cNvSpPr txBox="1"/>
          <p:nvPr/>
        </p:nvSpPr>
        <p:spPr>
          <a:xfrm>
            <a:off x="7187184"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PERUBAHAN</a:t>
            </a:r>
            <a:endParaRPr lang="en-US" sz="1400" dirty="0"/>
          </a:p>
        </p:txBody>
      </p:sp>
      <p:sp>
        <p:nvSpPr>
          <p:cNvPr id="23" name="Text 21"/>
          <p:cNvSpPr txBox="1"/>
          <p:nvPr/>
        </p:nvSpPr>
        <p:spPr>
          <a:xfrm>
            <a:off x="7187184" y="34747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Dinamika dan resistensi</a:t>
            </a:r>
            <a:endParaRPr lang="en-US" sz="1100" dirty="0"/>
          </a:p>
        </p:txBody>
      </p:sp>
      <p:pic>
        <p:nvPicPr>
          <p:cNvPr id="24"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
        <p:nvSpPr>
          <p:cNvPr id="25" name="Text 22"/>
          <p:cNvSpPr txBox="1"/>
          <p:nvPr/>
        </p:nvSpPr>
        <p:spPr>
          <a:xfrm>
            <a:off x="960120" y="4754880"/>
            <a:ext cx="6949440" cy="274320"/>
          </a:xfrm>
          <a:prstGeom prst="rect">
            <a:avLst/>
          </a:prstGeom>
          <a:noFill/>
          <a:ln/>
        </p:spPr>
        <p:txBody>
          <a:bodyPr wrap="square" lIns="0" tIns="0" rIns="0" bIns="0" rtlCol="0" anchor="t"/>
          <a:lstStyle/>
          <a:p>
            <a:pPr indent="0" marL="0">
              <a:buNone/>
            </a:pPr>
            <a:r>
              <a:rPr lang="en-US" sz="900" dirty="0">
                <a:solidFill>
                  <a:srgbClr val="444444"/>
                </a:solidFill>
                <a:latin typeface="Arial Narrow" pitchFamily="34" charset="0"/>
                <a:ea typeface="Arial Narrow" pitchFamily="34" charset="-122"/>
                <a:cs typeface="Arial Narrow" pitchFamily="34" charset="-120"/>
              </a:rPr>
              <a:t>Sumber: Bab I.B makalah; kerangka Hoy &amp; Miskel (2008)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754880" y="502920"/>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SEKOLAH</a:t>
            </a:r>
            <a:endParaRPr lang="en-US" sz="4600" dirty="0"/>
          </a:p>
        </p:txBody>
      </p:sp>
      <p:sp>
        <p:nvSpPr>
          <p:cNvPr id="3" name="Text 1"/>
          <p:cNvSpPr txBox="1"/>
          <p:nvPr/>
        </p:nvSpPr>
        <p:spPr>
          <a:xfrm>
            <a:off x="5001768" y="1075894"/>
            <a:ext cx="3931920" cy="618694"/>
          </a:xfrm>
          <a:prstGeom prst="rect">
            <a:avLst/>
          </a:prstGeom>
          <a:noFill/>
          <a:ln/>
        </p:spPr>
        <p:txBody>
          <a:bodyPr wrap="none" lIns="0" tIns="0" rIns="0" bIns="0" rtlCol="0" anchor="t"/>
          <a:lstStyle/>
          <a:p>
            <a:pPr indent="0" marL="0">
              <a:buNone/>
            </a:pPr>
            <a:r>
              <a:rPr lang="en-US" sz="4600" dirty="0">
                <a:solidFill>
                  <a:srgbClr val="FF2A1A"/>
                </a:solidFill>
                <a:latin typeface="Impact" pitchFamily="34" charset="0"/>
                <a:ea typeface="Impact" pitchFamily="34" charset="-122"/>
                <a:cs typeface="Impact" pitchFamily="34" charset="-120"/>
              </a:rPr>
              <a:t>SISTEM</a:t>
            </a:r>
            <a:endParaRPr lang="en-US" sz="4600" dirty="0"/>
          </a:p>
        </p:txBody>
      </p:sp>
      <p:sp>
        <p:nvSpPr>
          <p:cNvPr id="4" name="Text 2"/>
          <p:cNvSpPr txBox="1"/>
          <p:nvPr/>
        </p:nvSpPr>
        <p:spPr>
          <a:xfrm>
            <a:off x="4754880" y="1648868"/>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SOSIAL</a:t>
            </a:r>
            <a:endParaRPr lang="en-US" sz="4600" dirty="0"/>
          </a:p>
        </p:txBody>
      </p:sp>
      <p:sp>
        <p:nvSpPr>
          <p:cNvPr id="5" name="Text 3"/>
          <p:cNvSpPr txBox="1"/>
          <p:nvPr/>
        </p:nvSpPr>
        <p:spPr>
          <a:xfrm>
            <a:off x="5001768" y="2221842"/>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TERBUKA</a:t>
            </a:r>
            <a:endParaRPr lang="en-US" sz="4600" dirty="0"/>
          </a:p>
        </p:txBody>
      </p:sp>
      <p:sp>
        <p:nvSpPr>
          <p:cNvPr id="6" name="Shape 4"/>
          <p:cNvSpPr/>
          <p:nvPr/>
        </p:nvSpPr>
        <p:spPr>
          <a:xfrm>
            <a:off x="457200" y="502920"/>
            <a:ext cx="4023360" cy="0"/>
          </a:xfrm>
          <a:prstGeom prst="line">
            <a:avLst/>
          </a:prstGeom>
          <a:noFill/>
          <a:ln w="31750">
            <a:solidFill>
              <a:srgbClr val="0B0B0B"/>
            </a:solidFill>
            <a:prstDash val="solid"/>
          </a:ln>
        </p:spPr>
      </p:sp>
      <p:sp>
        <p:nvSpPr>
          <p:cNvPr id="7" name="Shape 5"/>
          <p:cNvSpPr/>
          <p:nvPr/>
        </p:nvSpPr>
        <p:spPr>
          <a:xfrm>
            <a:off x="457200" y="640080"/>
            <a:ext cx="457200" cy="457200"/>
          </a:xfrm>
          <a:prstGeom prst="ellipse">
            <a:avLst/>
          </a:prstGeom>
          <a:solidFill>
            <a:srgbClr val="0B0B0B"/>
          </a:solidFill>
          <a:ln w="12700">
            <a:solidFill>
              <a:srgbClr val="0B0B0B"/>
            </a:solidFill>
            <a:prstDash val="solid"/>
          </a:ln>
        </p:spPr>
      </p:sp>
      <p:sp>
        <p:nvSpPr>
          <p:cNvPr id="8" name="Text 6"/>
          <p:cNvSpPr txBox="1"/>
          <p:nvPr/>
        </p:nvSpPr>
        <p:spPr>
          <a:xfrm>
            <a:off x="457200" y="64008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01</a:t>
            </a:r>
            <a:endParaRPr lang="en-US" sz="1300" dirty="0"/>
          </a:p>
        </p:txBody>
      </p:sp>
      <p:sp>
        <p:nvSpPr>
          <p:cNvPr id="9" name="Text 7"/>
          <p:cNvSpPr txBox="1"/>
          <p:nvPr/>
        </p:nvSpPr>
        <p:spPr>
          <a:xfrm>
            <a:off x="1097280" y="61264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INPUT, PROSES, OUTPUT</a:t>
            </a:r>
            <a:endParaRPr lang="en-US" sz="1500" dirty="0"/>
          </a:p>
        </p:txBody>
      </p:sp>
      <p:sp>
        <p:nvSpPr>
          <p:cNvPr id="10" name="Text 8"/>
          <p:cNvSpPr txBox="1"/>
          <p:nvPr/>
        </p:nvSpPr>
        <p:spPr>
          <a:xfrm>
            <a:off x="1097280" y="91440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Dengan umpan balik</a:t>
            </a:r>
            <a:endParaRPr lang="en-US" sz="1250" dirty="0"/>
          </a:p>
        </p:txBody>
      </p:sp>
      <p:sp>
        <p:nvSpPr>
          <p:cNvPr id="11" name="Text 9"/>
          <p:cNvSpPr txBox="1"/>
          <p:nvPr/>
        </p:nvSpPr>
        <p:spPr>
          <a:xfrm>
            <a:off x="1097280" y="127101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12" name="Shape 10"/>
          <p:cNvSpPr/>
          <p:nvPr/>
        </p:nvSpPr>
        <p:spPr>
          <a:xfrm>
            <a:off x="457200" y="1463040"/>
            <a:ext cx="4023360" cy="0"/>
          </a:xfrm>
          <a:prstGeom prst="line">
            <a:avLst/>
          </a:prstGeom>
          <a:noFill/>
          <a:ln w="31750">
            <a:solidFill>
              <a:srgbClr val="0B0B0B"/>
            </a:solidFill>
            <a:prstDash val="solid"/>
          </a:ln>
        </p:spPr>
      </p:sp>
      <p:sp>
        <p:nvSpPr>
          <p:cNvPr id="13" name="Shape 11"/>
          <p:cNvSpPr/>
          <p:nvPr/>
        </p:nvSpPr>
        <p:spPr>
          <a:xfrm>
            <a:off x="457200" y="1600200"/>
            <a:ext cx="457200" cy="457200"/>
          </a:xfrm>
          <a:prstGeom prst="ellipse">
            <a:avLst/>
          </a:prstGeom>
          <a:solidFill>
            <a:srgbClr val="FF2A1A"/>
          </a:solidFill>
          <a:ln w="12700">
            <a:solidFill>
              <a:srgbClr val="FF2A1A"/>
            </a:solidFill>
            <a:prstDash val="solid"/>
          </a:ln>
        </p:spPr>
      </p:sp>
      <p:sp>
        <p:nvSpPr>
          <p:cNvPr id="14" name="Text 12"/>
          <p:cNvSpPr txBox="1"/>
          <p:nvPr/>
        </p:nvSpPr>
        <p:spPr>
          <a:xfrm>
            <a:off x="457200"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02</a:t>
            </a:r>
            <a:endParaRPr lang="en-US" sz="1300" dirty="0"/>
          </a:p>
        </p:txBody>
      </p:sp>
      <p:sp>
        <p:nvSpPr>
          <p:cNvPr id="15" name="Text 13"/>
          <p:cNvSpPr txBox="1"/>
          <p:nvPr/>
        </p:nvSpPr>
        <p:spPr>
          <a:xfrm>
            <a:off x="1097280" y="157276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EMPAT UNSUR</a:t>
            </a:r>
            <a:endParaRPr lang="en-US" sz="1500" dirty="0"/>
          </a:p>
        </p:txBody>
      </p:sp>
      <p:sp>
        <p:nvSpPr>
          <p:cNvPr id="16" name="Text 14"/>
          <p:cNvSpPr txBox="1"/>
          <p:nvPr/>
        </p:nvSpPr>
        <p:spPr>
          <a:xfrm>
            <a:off x="1097280" y="187452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Struktur, individu, budaya, politik</a:t>
            </a:r>
            <a:endParaRPr lang="en-US" sz="1250" dirty="0"/>
          </a:p>
        </p:txBody>
      </p:sp>
      <p:sp>
        <p:nvSpPr>
          <p:cNvPr id="17" name="Text 15"/>
          <p:cNvSpPr txBox="1"/>
          <p:nvPr/>
        </p:nvSpPr>
        <p:spPr>
          <a:xfrm>
            <a:off x="1097280" y="223113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18" name="Shape 16"/>
          <p:cNvSpPr/>
          <p:nvPr/>
        </p:nvSpPr>
        <p:spPr>
          <a:xfrm>
            <a:off x="457200" y="2423160"/>
            <a:ext cx="4023360" cy="0"/>
          </a:xfrm>
          <a:prstGeom prst="line">
            <a:avLst/>
          </a:prstGeom>
          <a:noFill/>
          <a:ln w="31750">
            <a:solidFill>
              <a:srgbClr val="0B0B0B"/>
            </a:solidFill>
            <a:prstDash val="solid"/>
          </a:ln>
        </p:spPr>
      </p:sp>
      <p:sp>
        <p:nvSpPr>
          <p:cNvPr id="19" name="Shape 17"/>
          <p:cNvSpPr/>
          <p:nvPr/>
        </p:nvSpPr>
        <p:spPr>
          <a:xfrm>
            <a:off x="457200" y="2560320"/>
            <a:ext cx="457200" cy="457200"/>
          </a:xfrm>
          <a:prstGeom prst="ellipse">
            <a:avLst/>
          </a:prstGeom>
          <a:solidFill>
            <a:srgbClr val="0B0B0B"/>
          </a:solidFill>
          <a:ln w="12700">
            <a:solidFill>
              <a:srgbClr val="0B0B0B"/>
            </a:solidFill>
            <a:prstDash val="solid"/>
          </a:ln>
        </p:spPr>
      </p:sp>
      <p:sp>
        <p:nvSpPr>
          <p:cNvPr id="20" name="Text 18"/>
          <p:cNvSpPr txBox="1"/>
          <p:nvPr/>
        </p:nvSpPr>
        <p:spPr>
          <a:xfrm>
            <a:off x="457200" y="256032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03</a:t>
            </a:r>
            <a:endParaRPr lang="en-US" sz="1300" dirty="0"/>
          </a:p>
        </p:txBody>
      </p:sp>
      <p:sp>
        <p:nvSpPr>
          <p:cNvPr id="21" name="Text 19"/>
          <p:cNvSpPr txBox="1"/>
          <p:nvPr/>
        </p:nvSpPr>
        <p:spPr>
          <a:xfrm>
            <a:off x="1097280" y="253288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HARUS ADAPTIF</a:t>
            </a:r>
            <a:endParaRPr lang="en-US" sz="1500" dirty="0"/>
          </a:p>
        </p:txBody>
      </p:sp>
      <p:sp>
        <p:nvSpPr>
          <p:cNvPr id="22" name="Text 20"/>
          <p:cNvSpPr txBox="1"/>
          <p:nvPr/>
        </p:nvSpPr>
        <p:spPr>
          <a:xfrm>
            <a:off x="1097280" y="283464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Organisasi bergantung pada lingkungan</a:t>
            </a:r>
            <a:endParaRPr lang="en-US" sz="1250" dirty="0"/>
          </a:p>
        </p:txBody>
      </p:sp>
      <p:sp>
        <p:nvSpPr>
          <p:cNvPr id="23" name="Text 21"/>
          <p:cNvSpPr txBox="1"/>
          <p:nvPr/>
        </p:nvSpPr>
        <p:spPr>
          <a:xfrm>
            <a:off x="1097280" y="319125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24" name="Shape 22"/>
          <p:cNvSpPr/>
          <p:nvPr/>
        </p:nvSpPr>
        <p:spPr>
          <a:xfrm>
            <a:off x="457200" y="3383280"/>
            <a:ext cx="4023360" cy="0"/>
          </a:xfrm>
          <a:prstGeom prst="line">
            <a:avLst/>
          </a:prstGeom>
          <a:noFill/>
          <a:ln w="31750">
            <a:solidFill>
              <a:srgbClr val="0B0B0B"/>
            </a:solidFill>
            <a:prstDash val="solid"/>
          </a:ln>
        </p:spPr>
      </p:sp>
      <p:sp>
        <p:nvSpPr>
          <p:cNvPr id="25" name="Shape 23"/>
          <p:cNvSpPr/>
          <p:nvPr/>
        </p:nvSpPr>
        <p:spPr>
          <a:xfrm>
            <a:off x="457200" y="3520440"/>
            <a:ext cx="457200" cy="457200"/>
          </a:xfrm>
          <a:prstGeom prst="ellipse">
            <a:avLst/>
          </a:prstGeom>
          <a:solidFill>
            <a:srgbClr val="FF2A1A"/>
          </a:solidFill>
          <a:ln w="12700">
            <a:solidFill>
              <a:srgbClr val="FF2A1A"/>
            </a:solidFill>
            <a:prstDash val="solid"/>
          </a:ln>
        </p:spPr>
      </p:sp>
      <p:sp>
        <p:nvSpPr>
          <p:cNvPr id="26" name="Text 24"/>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04</a:t>
            </a:r>
            <a:endParaRPr lang="en-US" sz="1300" dirty="0"/>
          </a:p>
        </p:txBody>
      </p:sp>
      <p:sp>
        <p:nvSpPr>
          <p:cNvPr id="27" name="Text 25"/>
          <p:cNvSpPr txBox="1"/>
          <p:nvPr/>
        </p:nvSpPr>
        <p:spPr>
          <a:xfrm>
            <a:off x="1097280" y="349300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LEMBAGA ISLAM</a:t>
            </a:r>
            <a:endParaRPr lang="en-US" sz="1500" dirty="0"/>
          </a:p>
        </p:txBody>
      </p:sp>
      <p:sp>
        <p:nvSpPr>
          <p:cNvPr id="28" name="Text 26"/>
          <p:cNvSpPr txBox="1"/>
          <p:nvPr/>
        </p:nvSpPr>
        <p:spPr>
          <a:xfrm>
            <a:off x="1097280" y="379476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Modernisasi vs penjagaan nilai</a:t>
            </a:r>
            <a:endParaRPr lang="en-US" sz="1250" dirty="0"/>
          </a:p>
        </p:txBody>
      </p:sp>
      <p:sp>
        <p:nvSpPr>
          <p:cNvPr id="29" name="Text 27"/>
          <p:cNvSpPr txBox="1"/>
          <p:nvPr/>
        </p:nvSpPr>
        <p:spPr>
          <a:xfrm>
            <a:off x="1097280" y="415137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(Irhas, 2026)</a:t>
            </a:r>
            <a:endParaRPr lang="en-US" sz="900" dirty="0"/>
          </a:p>
        </p:txBody>
      </p:sp>
      <p:pic>
        <p:nvPicPr>
          <p:cNvPr id="30"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502920"/>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APA ITU</a:t>
            </a:r>
            <a:endParaRPr lang="en-US" sz="4600" dirty="0"/>
          </a:p>
        </p:txBody>
      </p:sp>
      <p:sp>
        <p:nvSpPr>
          <p:cNvPr id="3" name="Text 1"/>
          <p:cNvSpPr txBox="1"/>
          <p:nvPr/>
        </p:nvSpPr>
        <p:spPr>
          <a:xfrm>
            <a:off x="704088" y="1075894"/>
            <a:ext cx="3931920" cy="618694"/>
          </a:xfrm>
          <a:prstGeom prst="rect">
            <a:avLst/>
          </a:prstGeom>
          <a:noFill/>
          <a:ln/>
        </p:spPr>
        <p:txBody>
          <a:bodyPr wrap="none" lIns="0" tIns="0" rIns="0" bIns="0" rtlCol="0" anchor="t"/>
          <a:lstStyle/>
          <a:p>
            <a:pPr indent="0" marL="0">
              <a:buNone/>
            </a:pPr>
            <a:r>
              <a:rPr lang="en-US" sz="4600" dirty="0">
                <a:solidFill>
                  <a:srgbClr val="FF2A1A"/>
                </a:solidFill>
                <a:latin typeface="Impact" pitchFamily="34" charset="0"/>
                <a:ea typeface="Impact" pitchFamily="34" charset="-122"/>
                <a:cs typeface="Impact" pitchFamily="34" charset="-120"/>
              </a:rPr>
              <a:t>BUDAYA?</a:t>
            </a:r>
            <a:endParaRPr lang="en-US" sz="4600" dirty="0"/>
          </a:p>
        </p:txBody>
      </p:sp>
      <p:sp>
        <p:nvSpPr>
          <p:cNvPr id="4" name="Shape 2"/>
          <p:cNvSpPr/>
          <p:nvPr/>
        </p:nvSpPr>
        <p:spPr>
          <a:xfrm>
            <a:off x="4297680" y="502920"/>
            <a:ext cx="4389120" cy="0"/>
          </a:xfrm>
          <a:prstGeom prst="line">
            <a:avLst/>
          </a:prstGeom>
          <a:noFill/>
          <a:ln w="31750">
            <a:solidFill>
              <a:srgbClr val="0B0B0B"/>
            </a:solidFill>
            <a:prstDash val="solid"/>
          </a:ln>
        </p:spPr>
      </p:sp>
      <p:sp>
        <p:nvSpPr>
          <p:cNvPr id="5" name="Shape 3"/>
          <p:cNvSpPr/>
          <p:nvPr/>
        </p:nvSpPr>
        <p:spPr>
          <a:xfrm>
            <a:off x="4297680" y="640080"/>
            <a:ext cx="457200" cy="457200"/>
          </a:xfrm>
          <a:prstGeom prst="ellipse">
            <a:avLst/>
          </a:prstGeom>
          <a:solidFill>
            <a:srgbClr val="0B0B0B"/>
          </a:solidFill>
          <a:ln w="12700">
            <a:solidFill>
              <a:srgbClr val="0B0B0B"/>
            </a:solidFill>
            <a:prstDash val="solid"/>
          </a:ln>
        </p:spPr>
      </p:sp>
      <p:sp>
        <p:nvSpPr>
          <p:cNvPr id="6" name="Text 4"/>
          <p:cNvSpPr txBox="1"/>
          <p:nvPr/>
        </p:nvSpPr>
        <p:spPr>
          <a:xfrm>
            <a:off x="4297680" y="64008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01</a:t>
            </a:r>
            <a:endParaRPr lang="en-US" sz="1300" dirty="0"/>
          </a:p>
        </p:txBody>
      </p:sp>
      <p:sp>
        <p:nvSpPr>
          <p:cNvPr id="7" name="Text 5"/>
          <p:cNvSpPr txBox="1"/>
          <p:nvPr/>
        </p:nvSpPr>
        <p:spPr>
          <a:xfrm>
            <a:off x="4937760" y="61264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ORIENTASI BERSAMA</a:t>
            </a:r>
            <a:endParaRPr lang="en-US" sz="1500" dirty="0"/>
          </a:p>
        </p:txBody>
      </p:sp>
      <p:sp>
        <p:nvSpPr>
          <p:cNvPr id="8" name="Text 6"/>
          <p:cNvSpPr txBox="1"/>
          <p:nvPr/>
        </p:nvSpPr>
        <p:spPr>
          <a:xfrm>
            <a:off x="4937760" y="91440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Mempersatukan unit dan memberi identitas</a:t>
            </a:r>
            <a:endParaRPr lang="en-US" sz="1250" dirty="0"/>
          </a:p>
        </p:txBody>
      </p:sp>
      <p:sp>
        <p:nvSpPr>
          <p:cNvPr id="9" name="Text 7"/>
          <p:cNvSpPr txBox="1"/>
          <p:nvPr/>
        </p:nvSpPr>
        <p:spPr>
          <a:xfrm>
            <a:off x="4937760" y="127101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10" name="Shape 8"/>
          <p:cNvSpPr/>
          <p:nvPr/>
        </p:nvSpPr>
        <p:spPr>
          <a:xfrm>
            <a:off x="4297680" y="1463040"/>
            <a:ext cx="4389120" cy="0"/>
          </a:xfrm>
          <a:prstGeom prst="line">
            <a:avLst/>
          </a:prstGeom>
          <a:noFill/>
          <a:ln w="31750">
            <a:solidFill>
              <a:srgbClr val="0B0B0B"/>
            </a:solidFill>
            <a:prstDash val="solid"/>
          </a:ln>
        </p:spPr>
      </p:sp>
      <p:sp>
        <p:nvSpPr>
          <p:cNvPr id="11" name="Shape 9"/>
          <p:cNvSpPr/>
          <p:nvPr/>
        </p:nvSpPr>
        <p:spPr>
          <a:xfrm>
            <a:off x="4297680" y="1600200"/>
            <a:ext cx="457200" cy="457200"/>
          </a:xfrm>
          <a:prstGeom prst="ellipse">
            <a:avLst/>
          </a:prstGeom>
          <a:solidFill>
            <a:srgbClr val="FF2A1A"/>
          </a:solidFill>
          <a:ln w="12700">
            <a:solidFill>
              <a:srgbClr val="FF2A1A"/>
            </a:solidFill>
            <a:prstDash val="solid"/>
          </a:ln>
        </p:spPr>
      </p:sp>
      <p:sp>
        <p:nvSpPr>
          <p:cNvPr id="12" name="Text 10"/>
          <p:cNvSpPr txBox="1"/>
          <p:nvPr/>
        </p:nvSpPr>
        <p:spPr>
          <a:xfrm>
            <a:off x="4297680"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02</a:t>
            </a:r>
            <a:endParaRPr lang="en-US" sz="1300" dirty="0"/>
          </a:p>
        </p:txBody>
      </p:sp>
      <p:sp>
        <p:nvSpPr>
          <p:cNvPr id="13" name="Text 11"/>
          <p:cNvSpPr txBox="1"/>
          <p:nvPr/>
        </p:nvSpPr>
        <p:spPr>
          <a:xfrm>
            <a:off x="4937760" y="157276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KEPRIBADIAN KOLEKTIF</a:t>
            </a:r>
            <a:endParaRPr lang="en-US" sz="1500" dirty="0"/>
          </a:p>
        </p:txBody>
      </p:sp>
      <p:sp>
        <p:nvSpPr>
          <p:cNvPr id="14" name="Text 12"/>
          <p:cNvSpPr txBox="1"/>
          <p:nvPr/>
        </p:nvSpPr>
        <p:spPr>
          <a:xfrm>
            <a:off x="4937760" y="187452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Landasan identitas dan cara kerja</a:t>
            </a:r>
            <a:endParaRPr lang="en-US" sz="1250" dirty="0"/>
          </a:p>
        </p:txBody>
      </p:sp>
      <p:sp>
        <p:nvSpPr>
          <p:cNvPr id="15" name="Text 13"/>
          <p:cNvSpPr txBox="1"/>
          <p:nvPr/>
        </p:nvSpPr>
        <p:spPr>
          <a:xfrm>
            <a:off x="4937760" y="223113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(Habudin, 2020)</a:t>
            </a:r>
            <a:endParaRPr lang="en-US" sz="900" dirty="0"/>
          </a:p>
        </p:txBody>
      </p:sp>
      <p:sp>
        <p:nvSpPr>
          <p:cNvPr id="16" name="Shape 14"/>
          <p:cNvSpPr/>
          <p:nvPr/>
        </p:nvSpPr>
        <p:spPr>
          <a:xfrm>
            <a:off x="4297680" y="2423160"/>
            <a:ext cx="4389120" cy="0"/>
          </a:xfrm>
          <a:prstGeom prst="line">
            <a:avLst/>
          </a:prstGeom>
          <a:noFill/>
          <a:ln w="31750">
            <a:solidFill>
              <a:srgbClr val="0B0B0B"/>
            </a:solidFill>
            <a:prstDash val="solid"/>
          </a:ln>
        </p:spPr>
      </p:sp>
      <p:sp>
        <p:nvSpPr>
          <p:cNvPr id="17" name="Shape 15"/>
          <p:cNvSpPr/>
          <p:nvPr/>
        </p:nvSpPr>
        <p:spPr>
          <a:xfrm>
            <a:off x="4297680" y="2560320"/>
            <a:ext cx="457200" cy="457200"/>
          </a:xfrm>
          <a:prstGeom prst="ellipse">
            <a:avLst/>
          </a:prstGeom>
          <a:solidFill>
            <a:srgbClr val="0B0B0B"/>
          </a:solidFill>
          <a:ln w="12700">
            <a:solidFill>
              <a:srgbClr val="0B0B0B"/>
            </a:solidFill>
            <a:prstDash val="solid"/>
          </a:ln>
        </p:spPr>
      </p:sp>
      <p:sp>
        <p:nvSpPr>
          <p:cNvPr id="18" name="Text 16"/>
          <p:cNvSpPr txBox="1"/>
          <p:nvPr/>
        </p:nvSpPr>
        <p:spPr>
          <a:xfrm>
            <a:off x="4297680" y="256032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03</a:t>
            </a:r>
            <a:endParaRPr lang="en-US" sz="1300" dirty="0"/>
          </a:p>
        </p:txBody>
      </p:sp>
      <p:sp>
        <p:nvSpPr>
          <p:cNvPr id="19" name="Text 17"/>
          <p:cNvSpPr txBox="1"/>
          <p:nvPr/>
        </p:nvSpPr>
        <p:spPr>
          <a:xfrm>
            <a:off x="4937760" y="253288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SISTEM MAKNA BERSAMA</a:t>
            </a:r>
            <a:endParaRPr lang="en-US" sz="1500" dirty="0"/>
          </a:p>
        </p:txBody>
      </p:sp>
      <p:sp>
        <p:nvSpPr>
          <p:cNvPr id="20" name="Text 18"/>
          <p:cNvSpPr txBox="1"/>
          <p:nvPr/>
        </p:nvSpPr>
        <p:spPr>
          <a:xfrm>
            <a:off x="4937760" y="283464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Dianut warga sekolah</a:t>
            </a:r>
            <a:endParaRPr lang="en-US" sz="1250" dirty="0"/>
          </a:p>
        </p:txBody>
      </p:sp>
      <p:sp>
        <p:nvSpPr>
          <p:cNvPr id="21" name="Text 19"/>
          <p:cNvSpPr txBox="1"/>
          <p:nvPr/>
        </p:nvSpPr>
        <p:spPr>
          <a:xfrm>
            <a:off x="4937760" y="319125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(Afrida &amp; Fitri, 2022)</a:t>
            </a:r>
            <a:endParaRPr lang="en-US" sz="900" dirty="0"/>
          </a:p>
        </p:txBody>
      </p:sp>
      <p:sp>
        <p:nvSpPr>
          <p:cNvPr id="22" name="Shape 20"/>
          <p:cNvSpPr/>
          <p:nvPr/>
        </p:nvSpPr>
        <p:spPr>
          <a:xfrm>
            <a:off x="4297680" y="3383280"/>
            <a:ext cx="4389120" cy="0"/>
          </a:xfrm>
          <a:prstGeom prst="line">
            <a:avLst/>
          </a:prstGeom>
          <a:noFill/>
          <a:ln w="31750">
            <a:solidFill>
              <a:srgbClr val="0B0B0B"/>
            </a:solidFill>
            <a:prstDash val="solid"/>
          </a:ln>
        </p:spPr>
      </p:sp>
      <p:sp>
        <p:nvSpPr>
          <p:cNvPr id="23" name="Shape 21"/>
          <p:cNvSpPr/>
          <p:nvPr/>
        </p:nvSpPr>
        <p:spPr>
          <a:xfrm>
            <a:off x="4297680" y="3520440"/>
            <a:ext cx="457200" cy="457200"/>
          </a:xfrm>
          <a:prstGeom prst="ellipse">
            <a:avLst/>
          </a:prstGeom>
          <a:solidFill>
            <a:srgbClr val="FF2A1A"/>
          </a:solidFill>
          <a:ln w="12700">
            <a:solidFill>
              <a:srgbClr val="FF2A1A"/>
            </a:solidFill>
            <a:prstDash val="solid"/>
          </a:ln>
        </p:spPr>
      </p:sp>
      <p:sp>
        <p:nvSpPr>
          <p:cNvPr id="24" name="Text 22"/>
          <p:cNvSpPr txBox="1"/>
          <p:nvPr/>
        </p:nvSpPr>
        <p:spPr>
          <a:xfrm>
            <a:off x="4297680" y="352044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04</a:t>
            </a:r>
            <a:endParaRPr lang="en-US" sz="1300" dirty="0"/>
          </a:p>
        </p:txBody>
      </p:sp>
      <p:sp>
        <p:nvSpPr>
          <p:cNvPr id="25" name="Text 23"/>
          <p:cNvSpPr txBox="1"/>
          <p:nvPr/>
        </p:nvSpPr>
        <p:spPr>
          <a:xfrm>
            <a:off x="4937760" y="349300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FUNGSI</a:t>
            </a:r>
            <a:endParaRPr lang="en-US" sz="1500" dirty="0"/>
          </a:p>
        </p:txBody>
      </p:sp>
      <p:sp>
        <p:nvSpPr>
          <p:cNvPr id="26" name="Text 24"/>
          <p:cNvSpPr txBox="1"/>
          <p:nvPr/>
        </p:nvSpPr>
        <p:spPr>
          <a:xfrm>
            <a:off x="4937760" y="379476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Batas, identitas, komitmen, perekat</a:t>
            </a:r>
            <a:endParaRPr lang="en-US" sz="1250" dirty="0"/>
          </a:p>
        </p:txBody>
      </p:sp>
      <p:sp>
        <p:nvSpPr>
          <p:cNvPr id="27" name="Text 25"/>
          <p:cNvSpPr txBox="1"/>
          <p:nvPr/>
        </p:nvSpPr>
        <p:spPr>
          <a:xfrm>
            <a:off x="4937760" y="415137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pic>
        <p:nvPicPr>
          <p:cNvPr id="28"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718342"/>
          </a:xfrm>
          <a:prstGeom prst="rect">
            <a:avLst/>
          </a:prstGeom>
          <a:noFill/>
          <a:ln/>
        </p:spPr>
        <p:txBody>
          <a:bodyPr wrap="none" lIns="0" tIns="0" rIns="0" bIns="0" rtlCol="0" anchor="t"/>
          <a:lstStyle/>
          <a:p>
            <a:pPr indent="0" marL="0">
              <a:buNone/>
            </a:pPr>
            <a:r>
              <a:rPr lang="en-US" sz="5400" dirty="0">
                <a:solidFill>
                  <a:srgbClr val="0B0B0B"/>
                </a:solidFill>
                <a:latin typeface="Impact" pitchFamily="34" charset="0"/>
                <a:ea typeface="Impact" pitchFamily="34" charset="-122"/>
                <a:cs typeface="Impact" pitchFamily="34" charset="-120"/>
              </a:rPr>
              <a:t>TIGA LEVEL</a:t>
            </a:r>
            <a:endParaRPr lang="en-US" sz="5400" dirty="0"/>
          </a:p>
        </p:txBody>
      </p:sp>
      <p:sp>
        <p:nvSpPr>
          <p:cNvPr id="3" name="Text 1"/>
          <p:cNvSpPr txBox="1"/>
          <p:nvPr/>
        </p:nvSpPr>
        <p:spPr>
          <a:xfrm>
            <a:off x="950976" y="1084102"/>
            <a:ext cx="8229600" cy="718342"/>
          </a:xfrm>
          <a:prstGeom prst="rect">
            <a:avLst/>
          </a:prstGeom>
          <a:noFill/>
          <a:ln/>
        </p:spPr>
        <p:txBody>
          <a:bodyPr wrap="none" lIns="0" tIns="0" rIns="0" bIns="0" rtlCol="0" anchor="t"/>
          <a:lstStyle/>
          <a:p>
            <a:pPr indent="0" marL="0">
              <a:buNone/>
            </a:pPr>
            <a:r>
              <a:rPr lang="en-US" sz="5400" dirty="0">
                <a:solidFill>
                  <a:srgbClr val="FF2A1A"/>
                </a:solidFill>
                <a:latin typeface="Impact" pitchFamily="34" charset="0"/>
                <a:ea typeface="Impact" pitchFamily="34" charset="-122"/>
                <a:cs typeface="Impact" pitchFamily="34" charset="-120"/>
              </a:rPr>
              <a:t>BUDAYA</a:t>
            </a:r>
            <a:endParaRPr lang="en-US" sz="5400" dirty="0"/>
          </a:p>
        </p:txBody>
      </p:sp>
      <p:sp>
        <p:nvSpPr>
          <p:cNvPr id="4" name="Shape 2"/>
          <p:cNvSpPr/>
          <p:nvPr/>
        </p:nvSpPr>
        <p:spPr>
          <a:xfrm>
            <a:off x="457200" y="2514600"/>
            <a:ext cx="2621280" cy="0"/>
          </a:xfrm>
          <a:prstGeom prst="line">
            <a:avLst/>
          </a:prstGeom>
          <a:noFill/>
          <a:ln w="31750">
            <a:solidFill>
              <a:srgbClr val="0B0B0B"/>
            </a:solidFill>
            <a:prstDash val="solid"/>
          </a:ln>
        </p:spPr>
      </p:sp>
      <p:sp>
        <p:nvSpPr>
          <p:cNvPr id="5" name="Text 3"/>
          <p:cNvSpPr txBox="1"/>
          <p:nvPr/>
        </p:nvSpPr>
        <p:spPr>
          <a:xfrm>
            <a:off x="45720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01</a:t>
            </a:r>
            <a:endParaRPr lang="en-US" sz="3000" dirty="0"/>
          </a:p>
        </p:txBody>
      </p:sp>
      <p:sp>
        <p:nvSpPr>
          <p:cNvPr id="6" name="Text 4"/>
          <p:cNvSpPr txBox="1"/>
          <p:nvPr/>
        </p:nvSpPr>
        <p:spPr>
          <a:xfrm>
            <a:off x="45720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NORMA</a:t>
            </a:r>
            <a:endParaRPr lang="en-US" sz="1600" dirty="0"/>
          </a:p>
        </p:txBody>
      </p:sp>
      <p:sp>
        <p:nvSpPr>
          <p:cNvPr id="7" name="Text 5"/>
          <p:cNvSpPr txBox="1"/>
          <p:nvPr/>
        </p:nvSpPr>
        <p:spPr>
          <a:xfrm>
            <a:off x="457200" y="34747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Ekspektasi informal, ditegakkan sanksi</a:t>
            </a:r>
            <a:endParaRPr lang="en-US" sz="1250" dirty="0"/>
          </a:p>
        </p:txBody>
      </p:sp>
      <p:sp>
        <p:nvSpPr>
          <p:cNvPr id="8" name="Text 6"/>
          <p:cNvSpPr txBox="1"/>
          <p:nvPr/>
        </p:nvSpPr>
        <p:spPr>
          <a:xfrm>
            <a:off x="45720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sp>
        <p:nvSpPr>
          <p:cNvPr id="9" name="Shape 7"/>
          <p:cNvSpPr/>
          <p:nvPr/>
        </p:nvSpPr>
        <p:spPr>
          <a:xfrm>
            <a:off x="3261360" y="2514600"/>
            <a:ext cx="2621280" cy="0"/>
          </a:xfrm>
          <a:prstGeom prst="line">
            <a:avLst/>
          </a:prstGeom>
          <a:noFill/>
          <a:ln w="31750">
            <a:solidFill>
              <a:srgbClr val="0B0B0B"/>
            </a:solidFill>
            <a:prstDash val="solid"/>
          </a:ln>
        </p:spPr>
      </p:sp>
      <p:sp>
        <p:nvSpPr>
          <p:cNvPr id="10" name="Text 8"/>
          <p:cNvSpPr txBox="1"/>
          <p:nvPr/>
        </p:nvSpPr>
        <p:spPr>
          <a:xfrm>
            <a:off x="326136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02</a:t>
            </a:r>
            <a:endParaRPr lang="en-US" sz="3000" dirty="0"/>
          </a:p>
        </p:txBody>
      </p:sp>
      <p:sp>
        <p:nvSpPr>
          <p:cNvPr id="11" name="Text 9"/>
          <p:cNvSpPr txBox="1"/>
          <p:nvPr/>
        </p:nvSpPr>
        <p:spPr>
          <a:xfrm>
            <a:off x="326136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NILAI</a:t>
            </a:r>
            <a:endParaRPr lang="en-US" sz="1600" dirty="0"/>
          </a:p>
        </p:txBody>
      </p:sp>
      <p:sp>
        <p:nvSpPr>
          <p:cNvPr id="12" name="Text 10"/>
          <p:cNvSpPr txBox="1"/>
          <p:nvPr/>
        </p:nvSpPr>
        <p:spPr>
          <a:xfrm>
            <a:off x="3261360" y="34747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Standar keberhasilan dan identitas</a:t>
            </a:r>
            <a:endParaRPr lang="en-US" sz="1250" dirty="0"/>
          </a:p>
        </p:txBody>
      </p:sp>
      <p:sp>
        <p:nvSpPr>
          <p:cNvPr id="13" name="Text 11"/>
          <p:cNvSpPr txBox="1"/>
          <p:nvPr/>
        </p:nvSpPr>
        <p:spPr>
          <a:xfrm>
            <a:off x="326136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sp>
        <p:nvSpPr>
          <p:cNvPr id="14" name="Shape 12"/>
          <p:cNvSpPr/>
          <p:nvPr/>
        </p:nvSpPr>
        <p:spPr>
          <a:xfrm>
            <a:off x="6065520" y="2514600"/>
            <a:ext cx="2621280" cy="0"/>
          </a:xfrm>
          <a:prstGeom prst="line">
            <a:avLst/>
          </a:prstGeom>
          <a:noFill/>
          <a:ln w="31750">
            <a:solidFill>
              <a:srgbClr val="0B0B0B"/>
            </a:solidFill>
            <a:prstDash val="solid"/>
          </a:ln>
        </p:spPr>
      </p:sp>
      <p:sp>
        <p:nvSpPr>
          <p:cNvPr id="15" name="Text 13"/>
          <p:cNvSpPr txBox="1"/>
          <p:nvPr/>
        </p:nvSpPr>
        <p:spPr>
          <a:xfrm>
            <a:off x="606552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03</a:t>
            </a:r>
            <a:endParaRPr lang="en-US" sz="3000" dirty="0"/>
          </a:p>
        </p:txBody>
      </p:sp>
      <p:sp>
        <p:nvSpPr>
          <p:cNvPr id="16" name="Text 14"/>
          <p:cNvSpPr txBox="1"/>
          <p:nvPr/>
        </p:nvSpPr>
        <p:spPr>
          <a:xfrm>
            <a:off x="606552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ASUMSI</a:t>
            </a:r>
            <a:endParaRPr lang="en-US" sz="1600" dirty="0"/>
          </a:p>
        </p:txBody>
      </p:sp>
      <p:sp>
        <p:nvSpPr>
          <p:cNvPr id="17" name="Text 15"/>
          <p:cNvSpPr txBox="1"/>
          <p:nvPr/>
        </p:nvSpPr>
        <p:spPr>
          <a:xfrm>
            <a:off x="6065520" y="34747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Tersembunyi dan tahan perubahan</a:t>
            </a:r>
            <a:endParaRPr lang="en-US" sz="1250" dirty="0"/>
          </a:p>
        </p:txBody>
      </p:sp>
      <p:sp>
        <p:nvSpPr>
          <p:cNvPr id="18" name="Text 16"/>
          <p:cNvSpPr txBox="1"/>
          <p:nvPr/>
        </p:nvSpPr>
        <p:spPr>
          <a:xfrm>
            <a:off x="606552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pic>
        <p:nvPicPr>
          <p:cNvPr id="19"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718342"/>
          </a:xfrm>
          <a:prstGeom prst="rect">
            <a:avLst/>
          </a:prstGeom>
          <a:noFill/>
          <a:ln/>
        </p:spPr>
        <p:txBody>
          <a:bodyPr wrap="none" lIns="0" tIns="0" rIns="0" bIns="0" rtlCol="0" anchor="t"/>
          <a:lstStyle/>
          <a:p>
            <a:pPr indent="0" marL="0">
              <a:buNone/>
            </a:pPr>
            <a:r>
              <a:rPr lang="en-US" sz="5400" dirty="0">
                <a:solidFill>
                  <a:srgbClr val="0B0B0B"/>
                </a:solidFill>
                <a:latin typeface="Impact" pitchFamily="34" charset="0"/>
                <a:ea typeface="Impact" pitchFamily="34" charset="-122"/>
                <a:cs typeface="Impact" pitchFamily="34" charset="-120"/>
              </a:rPr>
              <a:t>NILAI &amp;</a:t>
            </a:r>
            <a:endParaRPr lang="en-US" sz="5400" dirty="0"/>
          </a:p>
        </p:txBody>
      </p:sp>
      <p:sp>
        <p:nvSpPr>
          <p:cNvPr id="3" name="Text 1"/>
          <p:cNvSpPr txBox="1"/>
          <p:nvPr/>
        </p:nvSpPr>
        <p:spPr>
          <a:xfrm>
            <a:off x="786384" y="1084102"/>
            <a:ext cx="8229600" cy="718342"/>
          </a:xfrm>
          <a:prstGeom prst="rect">
            <a:avLst/>
          </a:prstGeom>
          <a:noFill/>
          <a:ln/>
        </p:spPr>
        <p:txBody>
          <a:bodyPr wrap="none" lIns="0" tIns="0" rIns="0" bIns="0" rtlCol="0" anchor="t"/>
          <a:lstStyle/>
          <a:p>
            <a:pPr indent="0" marL="0">
              <a:buNone/>
            </a:pPr>
            <a:r>
              <a:rPr lang="en-US" sz="5400" dirty="0">
                <a:solidFill>
                  <a:srgbClr val="FF2A1A"/>
                </a:solidFill>
                <a:latin typeface="Impact" pitchFamily="34" charset="0"/>
                <a:ea typeface="Impact" pitchFamily="34" charset="-122"/>
                <a:cs typeface="Impact" pitchFamily="34" charset="-120"/>
              </a:rPr>
              <a:t>NORMA</a:t>
            </a:r>
            <a:endParaRPr lang="en-US" sz="5400" dirty="0"/>
          </a:p>
        </p:txBody>
      </p:sp>
      <p:sp>
        <p:nvSpPr>
          <p:cNvPr id="4" name="Shape 2"/>
          <p:cNvSpPr/>
          <p:nvPr/>
        </p:nvSpPr>
        <p:spPr>
          <a:xfrm>
            <a:off x="457200" y="2514600"/>
            <a:ext cx="1920240" cy="0"/>
          </a:xfrm>
          <a:prstGeom prst="line">
            <a:avLst/>
          </a:prstGeom>
          <a:noFill/>
          <a:ln w="31750">
            <a:solidFill>
              <a:srgbClr val="0B0B0B"/>
            </a:solidFill>
            <a:prstDash val="solid"/>
          </a:ln>
        </p:spPr>
      </p:sp>
      <p:sp>
        <p:nvSpPr>
          <p:cNvPr id="5" name="Text 3"/>
          <p:cNvSpPr txBox="1"/>
          <p:nvPr/>
        </p:nvSpPr>
        <p:spPr>
          <a:xfrm>
            <a:off x="457200" y="2587752"/>
            <a:ext cx="192024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01</a:t>
            </a:r>
            <a:endParaRPr lang="en-US" sz="3000" dirty="0"/>
          </a:p>
        </p:txBody>
      </p:sp>
      <p:sp>
        <p:nvSpPr>
          <p:cNvPr id="6" name="Text 4"/>
          <p:cNvSpPr txBox="1"/>
          <p:nvPr/>
        </p:nvSpPr>
        <p:spPr>
          <a:xfrm>
            <a:off x="457200" y="306324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RUMUSKAN</a:t>
            </a:r>
            <a:endParaRPr lang="en-US" sz="1600" dirty="0"/>
          </a:p>
        </p:txBody>
      </p:sp>
      <p:sp>
        <p:nvSpPr>
          <p:cNvPr id="7" name="Text 5"/>
          <p:cNvSpPr txBox="1"/>
          <p:nvPr/>
        </p:nvSpPr>
        <p:spPr>
          <a:xfrm>
            <a:off x="457200" y="3474720"/>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Konsensus visi pemangku kepentingan</a:t>
            </a:r>
            <a:endParaRPr lang="en-US" sz="1250" dirty="0"/>
          </a:p>
        </p:txBody>
      </p:sp>
      <p:sp>
        <p:nvSpPr>
          <p:cNvPr id="8" name="Text 6"/>
          <p:cNvSpPr txBox="1"/>
          <p:nvPr/>
        </p:nvSpPr>
        <p:spPr>
          <a:xfrm>
            <a:off x="457200" y="4297680"/>
            <a:ext cx="192024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(Wulandari &amp; Nugroho, 2020)</a:t>
            </a:r>
            <a:endParaRPr lang="en-US" sz="850" dirty="0"/>
          </a:p>
        </p:txBody>
      </p:sp>
      <p:sp>
        <p:nvSpPr>
          <p:cNvPr id="9" name="Shape 7"/>
          <p:cNvSpPr/>
          <p:nvPr/>
        </p:nvSpPr>
        <p:spPr>
          <a:xfrm>
            <a:off x="2560320" y="2514600"/>
            <a:ext cx="1920240" cy="0"/>
          </a:xfrm>
          <a:prstGeom prst="line">
            <a:avLst/>
          </a:prstGeom>
          <a:noFill/>
          <a:ln w="31750">
            <a:solidFill>
              <a:srgbClr val="0B0B0B"/>
            </a:solidFill>
            <a:prstDash val="solid"/>
          </a:ln>
        </p:spPr>
      </p:sp>
      <p:sp>
        <p:nvSpPr>
          <p:cNvPr id="10" name="Text 8"/>
          <p:cNvSpPr txBox="1"/>
          <p:nvPr/>
        </p:nvSpPr>
        <p:spPr>
          <a:xfrm>
            <a:off x="2560320" y="2587752"/>
            <a:ext cx="192024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02</a:t>
            </a:r>
            <a:endParaRPr lang="en-US" sz="3000" dirty="0"/>
          </a:p>
        </p:txBody>
      </p:sp>
      <p:sp>
        <p:nvSpPr>
          <p:cNvPr id="11" name="Text 9"/>
          <p:cNvSpPr txBox="1"/>
          <p:nvPr/>
        </p:nvSpPr>
        <p:spPr>
          <a:xfrm>
            <a:off x="2560320" y="306324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TERAPKAN</a:t>
            </a:r>
            <a:endParaRPr lang="en-US" sz="1600" dirty="0"/>
          </a:p>
        </p:txBody>
      </p:sp>
      <p:sp>
        <p:nvSpPr>
          <p:cNvPr id="12" name="Text 10"/>
          <p:cNvSpPr txBox="1"/>
          <p:nvPr/>
        </p:nvSpPr>
        <p:spPr>
          <a:xfrm>
            <a:off x="2560320" y="3474720"/>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Norma tertulis dan tidak tertulis</a:t>
            </a:r>
            <a:endParaRPr lang="en-US" sz="1250" dirty="0"/>
          </a:p>
        </p:txBody>
      </p:sp>
      <p:sp>
        <p:nvSpPr>
          <p:cNvPr id="13" name="Text 11"/>
          <p:cNvSpPr txBox="1"/>
          <p:nvPr/>
        </p:nvSpPr>
        <p:spPr>
          <a:xfrm>
            <a:off x="2560320" y="4297680"/>
            <a:ext cx="192024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(Nasution dkk., 2025)</a:t>
            </a:r>
            <a:endParaRPr lang="en-US" sz="850" dirty="0"/>
          </a:p>
        </p:txBody>
      </p:sp>
      <p:sp>
        <p:nvSpPr>
          <p:cNvPr id="14" name="Shape 12"/>
          <p:cNvSpPr/>
          <p:nvPr/>
        </p:nvSpPr>
        <p:spPr>
          <a:xfrm>
            <a:off x="4663440" y="2514600"/>
            <a:ext cx="1920240" cy="0"/>
          </a:xfrm>
          <a:prstGeom prst="line">
            <a:avLst/>
          </a:prstGeom>
          <a:noFill/>
          <a:ln w="31750">
            <a:solidFill>
              <a:srgbClr val="0B0B0B"/>
            </a:solidFill>
            <a:prstDash val="solid"/>
          </a:ln>
        </p:spPr>
      </p:sp>
      <p:sp>
        <p:nvSpPr>
          <p:cNvPr id="15" name="Text 13"/>
          <p:cNvSpPr txBox="1"/>
          <p:nvPr/>
        </p:nvSpPr>
        <p:spPr>
          <a:xfrm>
            <a:off x="4663440" y="2587752"/>
            <a:ext cx="192024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03</a:t>
            </a:r>
            <a:endParaRPr lang="en-US" sz="3000" dirty="0"/>
          </a:p>
        </p:txBody>
      </p:sp>
      <p:sp>
        <p:nvSpPr>
          <p:cNvPr id="16" name="Text 14"/>
          <p:cNvSpPr txBox="1"/>
          <p:nvPr/>
        </p:nvSpPr>
        <p:spPr>
          <a:xfrm>
            <a:off x="4663440" y="306324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TANAMKAN</a:t>
            </a:r>
            <a:endParaRPr lang="en-US" sz="1600" dirty="0"/>
          </a:p>
        </p:txBody>
      </p:sp>
      <p:sp>
        <p:nvSpPr>
          <p:cNvPr id="17" name="Text 15"/>
          <p:cNvSpPr txBox="1"/>
          <p:nvPr/>
        </p:nvSpPr>
        <p:spPr>
          <a:xfrm>
            <a:off x="4663440" y="3474720"/>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Pembiasaan terstruktur</a:t>
            </a:r>
            <a:endParaRPr lang="en-US" sz="1250" dirty="0"/>
          </a:p>
        </p:txBody>
      </p:sp>
      <p:sp>
        <p:nvSpPr>
          <p:cNvPr id="18" name="Text 16"/>
          <p:cNvSpPr txBox="1"/>
          <p:nvPr/>
        </p:nvSpPr>
        <p:spPr>
          <a:xfrm>
            <a:off x="4663440" y="4297680"/>
            <a:ext cx="192024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(Indrianingrum dkk., 2024)</a:t>
            </a:r>
            <a:endParaRPr lang="en-US" sz="850" dirty="0"/>
          </a:p>
        </p:txBody>
      </p:sp>
      <p:sp>
        <p:nvSpPr>
          <p:cNvPr id="19" name="Shape 17"/>
          <p:cNvSpPr/>
          <p:nvPr/>
        </p:nvSpPr>
        <p:spPr>
          <a:xfrm>
            <a:off x="6766560" y="2514600"/>
            <a:ext cx="1920240" cy="0"/>
          </a:xfrm>
          <a:prstGeom prst="line">
            <a:avLst/>
          </a:prstGeom>
          <a:noFill/>
          <a:ln w="31750">
            <a:solidFill>
              <a:srgbClr val="0B0B0B"/>
            </a:solidFill>
            <a:prstDash val="solid"/>
          </a:ln>
        </p:spPr>
      </p:sp>
      <p:sp>
        <p:nvSpPr>
          <p:cNvPr id="20" name="Text 18"/>
          <p:cNvSpPr txBox="1"/>
          <p:nvPr/>
        </p:nvSpPr>
        <p:spPr>
          <a:xfrm>
            <a:off x="6766560" y="2587752"/>
            <a:ext cx="192024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04</a:t>
            </a:r>
            <a:endParaRPr lang="en-US" sz="3000" dirty="0"/>
          </a:p>
        </p:txBody>
      </p:sp>
      <p:sp>
        <p:nvSpPr>
          <p:cNvPr id="21" name="Text 19"/>
          <p:cNvSpPr txBox="1"/>
          <p:nvPr/>
        </p:nvSpPr>
        <p:spPr>
          <a:xfrm>
            <a:off x="6766560" y="306324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JAGA</a:t>
            </a:r>
            <a:endParaRPr lang="en-US" sz="1600" dirty="0"/>
          </a:p>
        </p:txBody>
      </p:sp>
      <p:sp>
        <p:nvSpPr>
          <p:cNvPr id="22" name="Text 20"/>
          <p:cNvSpPr txBox="1"/>
          <p:nvPr/>
        </p:nvSpPr>
        <p:spPr>
          <a:xfrm>
            <a:off x="6766560" y="3474720"/>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Keteladanan kepala sekolah</a:t>
            </a:r>
            <a:endParaRPr lang="en-US" sz="1250" dirty="0"/>
          </a:p>
        </p:txBody>
      </p:sp>
      <p:sp>
        <p:nvSpPr>
          <p:cNvPr id="23" name="Text 21"/>
          <p:cNvSpPr txBox="1"/>
          <p:nvPr/>
        </p:nvSpPr>
        <p:spPr>
          <a:xfrm>
            <a:off x="6766560" y="4297680"/>
            <a:ext cx="192024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(Anjarrini &amp; Rindaningsih, 2022)</a:t>
            </a:r>
            <a:endParaRPr lang="en-US" sz="850" dirty="0"/>
          </a:p>
        </p:txBody>
      </p:sp>
      <p:pic>
        <p:nvPicPr>
          <p:cNvPr id="24"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754880" y="502920"/>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BUDAYA</a:t>
            </a:r>
            <a:endParaRPr lang="en-US" sz="4600" dirty="0"/>
          </a:p>
        </p:txBody>
      </p:sp>
      <p:sp>
        <p:nvSpPr>
          <p:cNvPr id="3" name="Text 1"/>
          <p:cNvSpPr txBox="1"/>
          <p:nvPr/>
        </p:nvSpPr>
        <p:spPr>
          <a:xfrm>
            <a:off x="5084064" y="1075894"/>
            <a:ext cx="3931920" cy="618694"/>
          </a:xfrm>
          <a:prstGeom prst="rect">
            <a:avLst/>
          </a:prstGeom>
          <a:noFill/>
          <a:ln/>
        </p:spPr>
        <p:txBody>
          <a:bodyPr wrap="none" lIns="0" tIns="0" rIns="0" bIns="0" rtlCol="0" anchor="t"/>
          <a:lstStyle/>
          <a:p>
            <a:pPr indent="0" marL="0">
              <a:buNone/>
            </a:pPr>
            <a:r>
              <a:rPr lang="en-US" sz="4600" dirty="0">
                <a:solidFill>
                  <a:srgbClr val="FF2A1A"/>
                </a:solidFill>
                <a:latin typeface="Impact" pitchFamily="34" charset="0"/>
                <a:ea typeface="Impact" pitchFamily="34" charset="-122"/>
                <a:cs typeface="Impact" pitchFamily="34" charset="-120"/>
              </a:rPr>
              <a:t>VS</a:t>
            </a:r>
            <a:endParaRPr lang="en-US" sz="4600" dirty="0"/>
          </a:p>
        </p:txBody>
      </p:sp>
      <p:sp>
        <p:nvSpPr>
          <p:cNvPr id="4" name="Text 2"/>
          <p:cNvSpPr txBox="1"/>
          <p:nvPr/>
        </p:nvSpPr>
        <p:spPr>
          <a:xfrm>
            <a:off x="4878324" y="1648868"/>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IKLIM</a:t>
            </a:r>
            <a:endParaRPr lang="en-US" sz="4600" dirty="0"/>
          </a:p>
        </p:txBody>
      </p:sp>
      <p:sp>
        <p:nvSpPr>
          <p:cNvPr id="5" name="Shape 3"/>
          <p:cNvSpPr/>
          <p:nvPr/>
        </p:nvSpPr>
        <p:spPr>
          <a:xfrm>
            <a:off x="457200" y="502920"/>
            <a:ext cx="4023360" cy="0"/>
          </a:xfrm>
          <a:prstGeom prst="line">
            <a:avLst/>
          </a:prstGeom>
          <a:noFill/>
          <a:ln w="31750">
            <a:solidFill>
              <a:srgbClr val="0B0B0B"/>
            </a:solidFill>
            <a:prstDash val="solid"/>
          </a:ln>
        </p:spPr>
      </p:sp>
      <p:sp>
        <p:nvSpPr>
          <p:cNvPr id="6" name="Shape 4"/>
          <p:cNvSpPr/>
          <p:nvPr/>
        </p:nvSpPr>
        <p:spPr>
          <a:xfrm>
            <a:off x="457200" y="640080"/>
            <a:ext cx="457200" cy="457200"/>
          </a:xfrm>
          <a:prstGeom prst="ellipse">
            <a:avLst/>
          </a:prstGeom>
          <a:solidFill>
            <a:srgbClr val="0B0B0B"/>
          </a:solidFill>
          <a:ln w="12700">
            <a:solidFill>
              <a:srgbClr val="0B0B0B"/>
            </a:solidFill>
            <a:prstDash val="solid"/>
          </a:ln>
        </p:spPr>
      </p:sp>
      <p:sp>
        <p:nvSpPr>
          <p:cNvPr id="7" name="Text 5"/>
          <p:cNvSpPr txBox="1"/>
          <p:nvPr/>
        </p:nvSpPr>
        <p:spPr>
          <a:xfrm>
            <a:off x="457200" y="64008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01</a:t>
            </a:r>
            <a:endParaRPr lang="en-US" sz="1300" dirty="0"/>
          </a:p>
        </p:txBody>
      </p:sp>
      <p:sp>
        <p:nvSpPr>
          <p:cNvPr id="8" name="Text 6"/>
          <p:cNvSpPr txBox="1"/>
          <p:nvPr/>
        </p:nvSpPr>
        <p:spPr>
          <a:xfrm>
            <a:off x="1097280" y="61264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BUDAYA</a:t>
            </a:r>
            <a:endParaRPr lang="en-US" sz="1500" dirty="0"/>
          </a:p>
        </p:txBody>
      </p:sp>
      <p:sp>
        <p:nvSpPr>
          <p:cNvPr id="9" name="Text 7"/>
          <p:cNvSpPr txBox="1"/>
          <p:nvPr/>
        </p:nvSpPr>
        <p:spPr>
          <a:xfrm>
            <a:off x="1097280" y="91440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Nilai, norma, asumsi; mengendap</a:t>
            </a:r>
            <a:endParaRPr lang="en-US" sz="1250" dirty="0"/>
          </a:p>
        </p:txBody>
      </p:sp>
      <p:sp>
        <p:nvSpPr>
          <p:cNvPr id="10" name="Text 8"/>
          <p:cNvSpPr txBox="1"/>
          <p:nvPr/>
        </p:nvSpPr>
        <p:spPr>
          <a:xfrm>
            <a:off x="1097280" y="127101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(Habudin, 2020)</a:t>
            </a:r>
            <a:endParaRPr lang="en-US" sz="900" dirty="0"/>
          </a:p>
        </p:txBody>
      </p:sp>
      <p:sp>
        <p:nvSpPr>
          <p:cNvPr id="11" name="Shape 9"/>
          <p:cNvSpPr/>
          <p:nvPr/>
        </p:nvSpPr>
        <p:spPr>
          <a:xfrm>
            <a:off x="457200" y="1463040"/>
            <a:ext cx="4023360" cy="0"/>
          </a:xfrm>
          <a:prstGeom prst="line">
            <a:avLst/>
          </a:prstGeom>
          <a:noFill/>
          <a:ln w="31750">
            <a:solidFill>
              <a:srgbClr val="0B0B0B"/>
            </a:solidFill>
            <a:prstDash val="solid"/>
          </a:ln>
        </p:spPr>
      </p:sp>
      <p:sp>
        <p:nvSpPr>
          <p:cNvPr id="12" name="Shape 10"/>
          <p:cNvSpPr/>
          <p:nvPr/>
        </p:nvSpPr>
        <p:spPr>
          <a:xfrm>
            <a:off x="457200" y="1600200"/>
            <a:ext cx="457200" cy="457200"/>
          </a:xfrm>
          <a:prstGeom prst="ellipse">
            <a:avLst/>
          </a:prstGeom>
          <a:solidFill>
            <a:srgbClr val="FF2A1A"/>
          </a:solidFill>
          <a:ln w="12700">
            <a:solidFill>
              <a:srgbClr val="FF2A1A"/>
            </a:solidFill>
            <a:prstDash val="solid"/>
          </a:ln>
        </p:spPr>
      </p:sp>
      <p:sp>
        <p:nvSpPr>
          <p:cNvPr id="13" name="Text 11"/>
          <p:cNvSpPr txBox="1"/>
          <p:nvPr/>
        </p:nvSpPr>
        <p:spPr>
          <a:xfrm>
            <a:off x="457200"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02</a:t>
            </a:r>
            <a:endParaRPr lang="en-US" sz="1300" dirty="0"/>
          </a:p>
        </p:txBody>
      </p:sp>
      <p:sp>
        <p:nvSpPr>
          <p:cNvPr id="14" name="Text 12"/>
          <p:cNvSpPr txBox="1"/>
          <p:nvPr/>
        </p:nvSpPr>
        <p:spPr>
          <a:xfrm>
            <a:off x="1097280" y="157276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IKLIM</a:t>
            </a:r>
            <a:endParaRPr lang="en-US" sz="1500" dirty="0"/>
          </a:p>
        </p:txBody>
      </p:sp>
      <p:sp>
        <p:nvSpPr>
          <p:cNvPr id="15" name="Text 13"/>
          <p:cNvSpPr txBox="1"/>
          <p:nvPr/>
        </p:nvSpPr>
        <p:spPr>
          <a:xfrm>
            <a:off x="1097280" y="187452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Persepsi dan perasaan harian</a:t>
            </a:r>
            <a:endParaRPr lang="en-US" sz="1250" dirty="0"/>
          </a:p>
        </p:txBody>
      </p:sp>
      <p:sp>
        <p:nvSpPr>
          <p:cNvPr id="16" name="Text 14"/>
          <p:cNvSpPr txBox="1"/>
          <p:nvPr/>
        </p:nvSpPr>
        <p:spPr>
          <a:xfrm>
            <a:off x="1097280" y="223113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(Nisa dkk., 2020)</a:t>
            </a:r>
            <a:endParaRPr lang="en-US" sz="900" dirty="0"/>
          </a:p>
        </p:txBody>
      </p:sp>
      <p:sp>
        <p:nvSpPr>
          <p:cNvPr id="17" name="Shape 15"/>
          <p:cNvSpPr/>
          <p:nvPr/>
        </p:nvSpPr>
        <p:spPr>
          <a:xfrm>
            <a:off x="457200" y="2423160"/>
            <a:ext cx="4023360" cy="0"/>
          </a:xfrm>
          <a:prstGeom prst="line">
            <a:avLst/>
          </a:prstGeom>
          <a:noFill/>
          <a:ln w="31750">
            <a:solidFill>
              <a:srgbClr val="0B0B0B"/>
            </a:solidFill>
            <a:prstDash val="solid"/>
          </a:ln>
        </p:spPr>
      </p:sp>
      <p:sp>
        <p:nvSpPr>
          <p:cNvPr id="18" name="Shape 16"/>
          <p:cNvSpPr/>
          <p:nvPr/>
        </p:nvSpPr>
        <p:spPr>
          <a:xfrm>
            <a:off x="457200" y="2560320"/>
            <a:ext cx="457200" cy="457200"/>
          </a:xfrm>
          <a:prstGeom prst="ellipse">
            <a:avLst/>
          </a:prstGeom>
          <a:solidFill>
            <a:srgbClr val="0B0B0B"/>
          </a:solidFill>
          <a:ln w="12700">
            <a:solidFill>
              <a:srgbClr val="0B0B0B"/>
            </a:solidFill>
            <a:prstDash val="solid"/>
          </a:ln>
        </p:spPr>
      </p:sp>
      <p:sp>
        <p:nvSpPr>
          <p:cNvPr id="19" name="Text 17"/>
          <p:cNvSpPr txBox="1"/>
          <p:nvPr/>
        </p:nvSpPr>
        <p:spPr>
          <a:xfrm>
            <a:off x="457200" y="256032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03</a:t>
            </a:r>
            <a:endParaRPr lang="en-US" sz="1300" dirty="0"/>
          </a:p>
        </p:txBody>
      </p:sp>
      <p:sp>
        <p:nvSpPr>
          <p:cNvPr id="20" name="Text 18"/>
          <p:cNvSpPr txBox="1"/>
          <p:nvPr/>
        </p:nvSpPr>
        <p:spPr>
          <a:xfrm>
            <a:off x="1097280" y="253288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OBJEK BERBEDA</a:t>
            </a:r>
            <a:endParaRPr lang="en-US" sz="1500" dirty="0"/>
          </a:p>
        </p:txBody>
      </p:sp>
      <p:sp>
        <p:nvSpPr>
          <p:cNvPr id="21" name="Text 19"/>
          <p:cNvSpPr txBox="1"/>
          <p:nvPr/>
        </p:nvSpPr>
        <p:spPr>
          <a:xfrm>
            <a:off x="1097280" y="283464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Keyakinan vs persepsi perilaku</a:t>
            </a:r>
            <a:endParaRPr lang="en-US" sz="1250" dirty="0"/>
          </a:p>
        </p:txBody>
      </p:sp>
      <p:sp>
        <p:nvSpPr>
          <p:cNvPr id="22" name="Text 20"/>
          <p:cNvSpPr txBox="1"/>
          <p:nvPr/>
        </p:nvSpPr>
        <p:spPr>
          <a:xfrm>
            <a:off x="1097280" y="319125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23" name="Shape 21"/>
          <p:cNvSpPr/>
          <p:nvPr/>
        </p:nvSpPr>
        <p:spPr>
          <a:xfrm>
            <a:off x="457200" y="3383280"/>
            <a:ext cx="4023360" cy="0"/>
          </a:xfrm>
          <a:prstGeom prst="line">
            <a:avLst/>
          </a:prstGeom>
          <a:noFill/>
          <a:ln w="31750">
            <a:solidFill>
              <a:srgbClr val="0B0B0B"/>
            </a:solidFill>
            <a:prstDash val="solid"/>
          </a:ln>
        </p:spPr>
      </p:sp>
      <p:sp>
        <p:nvSpPr>
          <p:cNvPr id="24" name="Shape 22"/>
          <p:cNvSpPr/>
          <p:nvPr/>
        </p:nvSpPr>
        <p:spPr>
          <a:xfrm>
            <a:off x="457200" y="3520440"/>
            <a:ext cx="457200" cy="457200"/>
          </a:xfrm>
          <a:prstGeom prst="ellipse">
            <a:avLst/>
          </a:prstGeom>
          <a:solidFill>
            <a:srgbClr val="FF2A1A"/>
          </a:solidFill>
          <a:ln w="12700">
            <a:solidFill>
              <a:srgbClr val="FF2A1A"/>
            </a:solidFill>
            <a:prstDash val="solid"/>
          </a:ln>
        </p:spPr>
      </p:sp>
      <p:sp>
        <p:nvSpPr>
          <p:cNvPr id="25" name="Text 23"/>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04</a:t>
            </a:r>
            <a:endParaRPr lang="en-US" sz="1300" dirty="0"/>
          </a:p>
        </p:txBody>
      </p:sp>
      <p:sp>
        <p:nvSpPr>
          <p:cNvPr id="26" name="Text 24"/>
          <p:cNvSpPr txBox="1"/>
          <p:nvPr/>
        </p:nvSpPr>
        <p:spPr>
          <a:xfrm>
            <a:off x="1097280" y="349300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BATERAI DAN SENTER</a:t>
            </a:r>
            <a:endParaRPr lang="en-US" sz="1500" dirty="0"/>
          </a:p>
        </p:txBody>
      </p:sp>
      <p:sp>
        <p:nvSpPr>
          <p:cNvPr id="27" name="Text 25"/>
          <p:cNvSpPr txBox="1"/>
          <p:nvPr/>
        </p:nvSpPr>
        <p:spPr>
          <a:xfrm>
            <a:off x="1097280" y="379476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Budaya sumber daya, iklim cahaya</a:t>
            </a:r>
            <a:endParaRPr lang="en-US" sz="1250" dirty="0"/>
          </a:p>
        </p:txBody>
      </p:sp>
      <p:sp>
        <p:nvSpPr>
          <p:cNvPr id="28" name="Text 26"/>
          <p:cNvSpPr txBox="1"/>
          <p:nvPr/>
        </p:nvSpPr>
        <p:spPr>
          <a:xfrm>
            <a:off x="1097280" y="415137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(Basyit, 2020)</a:t>
            </a:r>
            <a:endParaRPr lang="en-US" sz="900" dirty="0"/>
          </a:p>
        </p:txBody>
      </p:sp>
      <p:pic>
        <p:nvPicPr>
          <p:cNvPr id="29"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718342"/>
          </a:xfrm>
          <a:prstGeom prst="rect">
            <a:avLst/>
          </a:prstGeom>
          <a:noFill/>
          <a:ln/>
        </p:spPr>
        <p:txBody>
          <a:bodyPr wrap="none" lIns="0" tIns="0" rIns="0" bIns="0" rtlCol="0" anchor="t"/>
          <a:lstStyle/>
          <a:p>
            <a:pPr indent="0" marL="0">
              <a:buNone/>
            </a:pPr>
            <a:r>
              <a:rPr lang="en-US" sz="5400" dirty="0">
                <a:solidFill>
                  <a:srgbClr val="0B0B0B"/>
                </a:solidFill>
                <a:latin typeface="Impact" pitchFamily="34" charset="0"/>
                <a:ea typeface="Impact" pitchFamily="34" charset="-122"/>
                <a:cs typeface="Impact" pitchFamily="34" charset="-120"/>
              </a:rPr>
              <a:t>TIGA LENSA</a:t>
            </a:r>
            <a:endParaRPr lang="en-US" sz="5400" dirty="0"/>
          </a:p>
        </p:txBody>
      </p:sp>
      <p:sp>
        <p:nvSpPr>
          <p:cNvPr id="3" name="Text 1"/>
          <p:cNvSpPr txBox="1"/>
          <p:nvPr/>
        </p:nvSpPr>
        <p:spPr>
          <a:xfrm>
            <a:off x="868680" y="1084102"/>
            <a:ext cx="8229600" cy="718342"/>
          </a:xfrm>
          <a:prstGeom prst="rect">
            <a:avLst/>
          </a:prstGeom>
          <a:noFill/>
          <a:ln/>
        </p:spPr>
        <p:txBody>
          <a:bodyPr wrap="none" lIns="0" tIns="0" rIns="0" bIns="0" rtlCol="0" anchor="t"/>
          <a:lstStyle/>
          <a:p>
            <a:pPr indent="0" marL="0">
              <a:buNone/>
            </a:pPr>
            <a:r>
              <a:rPr lang="en-US" sz="5400" dirty="0">
                <a:solidFill>
                  <a:srgbClr val="FF2A1A"/>
                </a:solidFill>
                <a:latin typeface="Impact" pitchFamily="34" charset="0"/>
                <a:ea typeface="Impact" pitchFamily="34" charset="-122"/>
                <a:cs typeface="Impact" pitchFamily="34" charset="-120"/>
              </a:rPr>
              <a:t>IKLIM</a:t>
            </a:r>
            <a:endParaRPr lang="en-US" sz="5400" dirty="0"/>
          </a:p>
        </p:txBody>
      </p:sp>
      <p:sp>
        <p:nvSpPr>
          <p:cNvPr id="4" name="Shape 2"/>
          <p:cNvSpPr/>
          <p:nvPr/>
        </p:nvSpPr>
        <p:spPr>
          <a:xfrm>
            <a:off x="457200" y="2514600"/>
            <a:ext cx="2621280" cy="0"/>
          </a:xfrm>
          <a:prstGeom prst="line">
            <a:avLst/>
          </a:prstGeom>
          <a:noFill/>
          <a:ln w="31750">
            <a:solidFill>
              <a:srgbClr val="0B0B0B"/>
            </a:solidFill>
            <a:prstDash val="solid"/>
          </a:ln>
        </p:spPr>
      </p:sp>
      <p:sp>
        <p:nvSpPr>
          <p:cNvPr id="5" name="Text 3"/>
          <p:cNvSpPr txBox="1"/>
          <p:nvPr/>
        </p:nvSpPr>
        <p:spPr>
          <a:xfrm>
            <a:off x="45720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01</a:t>
            </a:r>
            <a:endParaRPr lang="en-US" sz="3000" dirty="0"/>
          </a:p>
        </p:txBody>
      </p:sp>
      <p:sp>
        <p:nvSpPr>
          <p:cNvPr id="6" name="Text 4"/>
          <p:cNvSpPr txBox="1"/>
          <p:nvPr/>
        </p:nvSpPr>
        <p:spPr>
          <a:xfrm>
            <a:off x="45720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KETERBUKAAN</a:t>
            </a:r>
            <a:endParaRPr lang="en-US" sz="1600" dirty="0"/>
          </a:p>
        </p:txBody>
      </p:sp>
      <p:sp>
        <p:nvSpPr>
          <p:cNvPr id="7" name="Text 5"/>
          <p:cNvSpPr txBox="1"/>
          <p:nvPr/>
        </p:nvSpPr>
        <p:spPr>
          <a:xfrm>
            <a:off x="457200" y="34747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Diukur OCDQ, enam dimensi</a:t>
            </a:r>
            <a:endParaRPr lang="en-US" sz="1250" dirty="0"/>
          </a:p>
        </p:txBody>
      </p:sp>
      <p:sp>
        <p:nvSpPr>
          <p:cNvPr id="8" name="Text 6"/>
          <p:cNvSpPr txBox="1"/>
          <p:nvPr/>
        </p:nvSpPr>
        <p:spPr>
          <a:xfrm>
            <a:off x="45720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sp>
        <p:nvSpPr>
          <p:cNvPr id="9" name="Shape 7"/>
          <p:cNvSpPr/>
          <p:nvPr/>
        </p:nvSpPr>
        <p:spPr>
          <a:xfrm>
            <a:off x="3261360" y="2514600"/>
            <a:ext cx="2621280" cy="0"/>
          </a:xfrm>
          <a:prstGeom prst="line">
            <a:avLst/>
          </a:prstGeom>
          <a:noFill/>
          <a:ln w="31750">
            <a:solidFill>
              <a:srgbClr val="0B0B0B"/>
            </a:solidFill>
            <a:prstDash val="solid"/>
          </a:ln>
        </p:spPr>
      </p:sp>
      <p:sp>
        <p:nvSpPr>
          <p:cNvPr id="10" name="Text 8"/>
          <p:cNvSpPr txBox="1"/>
          <p:nvPr/>
        </p:nvSpPr>
        <p:spPr>
          <a:xfrm>
            <a:off x="326136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02</a:t>
            </a:r>
            <a:endParaRPr lang="en-US" sz="3000" dirty="0"/>
          </a:p>
        </p:txBody>
      </p:sp>
      <p:sp>
        <p:nvSpPr>
          <p:cNvPr id="11" name="Text 9"/>
          <p:cNvSpPr txBox="1"/>
          <p:nvPr/>
        </p:nvSpPr>
        <p:spPr>
          <a:xfrm>
            <a:off x="326136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KESEHATAN</a:t>
            </a:r>
            <a:endParaRPr lang="en-US" sz="1600" dirty="0"/>
          </a:p>
        </p:txBody>
      </p:sp>
      <p:sp>
        <p:nvSpPr>
          <p:cNvPr id="12" name="Text 10"/>
          <p:cNvSpPr txBox="1"/>
          <p:nvPr/>
        </p:nvSpPr>
        <p:spPr>
          <a:xfrm>
            <a:off x="3261360" y="34747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Tujuh dimensi, tiga level</a:t>
            </a:r>
            <a:endParaRPr lang="en-US" sz="1250" dirty="0"/>
          </a:p>
        </p:txBody>
      </p:sp>
      <p:sp>
        <p:nvSpPr>
          <p:cNvPr id="13" name="Text 11"/>
          <p:cNvSpPr txBox="1"/>
          <p:nvPr/>
        </p:nvSpPr>
        <p:spPr>
          <a:xfrm>
            <a:off x="326136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sp>
        <p:nvSpPr>
          <p:cNvPr id="14" name="Shape 12"/>
          <p:cNvSpPr/>
          <p:nvPr/>
        </p:nvSpPr>
        <p:spPr>
          <a:xfrm>
            <a:off x="6065520" y="2514600"/>
            <a:ext cx="2621280" cy="0"/>
          </a:xfrm>
          <a:prstGeom prst="line">
            <a:avLst/>
          </a:prstGeom>
          <a:noFill/>
          <a:ln w="31750">
            <a:solidFill>
              <a:srgbClr val="0B0B0B"/>
            </a:solidFill>
            <a:prstDash val="solid"/>
          </a:ln>
        </p:spPr>
      </p:sp>
      <p:sp>
        <p:nvSpPr>
          <p:cNvPr id="15" name="Text 13"/>
          <p:cNvSpPr txBox="1"/>
          <p:nvPr/>
        </p:nvSpPr>
        <p:spPr>
          <a:xfrm>
            <a:off x="606552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03</a:t>
            </a:r>
            <a:endParaRPr lang="en-US" sz="3000" dirty="0"/>
          </a:p>
        </p:txBody>
      </p:sp>
      <p:sp>
        <p:nvSpPr>
          <p:cNvPr id="16" name="Text 14"/>
          <p:cNvSpPr txBox="1"/>
          <p:nvPr/>
        </p:nvSpPr>
        <p:spPr>
          <a:xfrm>
            <a:off x="606552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KEWARGAAN</a:t>
            </a:r>
            <a:endParaRPr lang="en-US" sz="1600" dirty="0"/>
          </a:p>
        </p:txBody>
      </p:sp>
      <p:sp>
        <p:nvSpPr>
          <p:cNvPr id="17" name="Text 15"/>
          <p:cNvSpPr txBox="1"/>
          <p:nvPr/>
        </p:nvSpPr>
        <p:spPr>
          <a:xfrm>
            <a:off x="6065520" y="34747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Perilaku melampaui tugas formal</a:t>
            </a:r>
            <a:endParaRPr lang="en-US" sz="1250" dirty="0"/>
          </a:p>
        </p:txBody>
      </p:sp>
      <p:sp>
        <p:nvSpPr>
          <p:cNvPr id="18" name="Text 16"/>
          <p:cNvSpPr txBox="1"/>
          <p:nvPr/>
        </p:nvSpPr>
        <p:spPr>
          <a:xfrm>
            <a:off x="606552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pic>
        <p:nvPicPr>
          <p:cNvPr id="19"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718342"/>
          </a:xfrm>
          <a:prstGeom prst="rect">
            <a:avLst/>
          </a:prstGeom>
          <a:noFill/>
          <a:ln/>
        </p:spPr>
        <p:txBody>
          <a:bodyPr wrap="none" lIns="0" tIns="0" rIns="0" bIns="0" rtlCol="0" anchor="t"/>
          <a:lstStyle/>
          <a:p>
            <a:pPr indent="0" marL="0">
              <a:buNone/>
            </a:pPr>
            <a:r>
              <a:rPr lang="en-US" sz="5400" dirty="0">
                <a:solidFill>
                  <a:srgbClr val="0B0B0B"/>
                </a:solidFill>
                <a:latin typeface="Impact" pitchFamily="34" charset="0"/>
                <a:ea typeface="Impact" pitchFamily="34" charset="-122"/>
                <a:cs typeface="Impact" pitchFamily="34" charset="-120"/>
              </a:rPr>
              <a:t>LIMA FASET</a:t>
            </a:r>
            <a:endParaRPr lang="en-US" sz="5400" dirty="0"/>
          </a:p>
        </p:txBody>
      </p:sp>
      <p:sp>
        <p:nvSpPr>
          <p:cNvPr id="3" name="Text 1"/>
          <p:cNvSpPr txBox="1"/>
          <p:nvPr/>
        </p:nvSpPr>
        <p:spPr>
          <a:xfrm>
            <a:off x="621792" y="1084102"/>
            <a:ext cx="8229600" cy="718342"/>
          </a:xfrm>
          <a:prstGeom prst="rect">
            <a:avLst/>
          </a:prstGeom>
          <a:noFill/>
          <a:ln/>
        </p:spPr>
        <p:txBody>
          <a:bodyPr wrap="none" lIns="0" tIns="0" rIns="0" bIns="0" rtlCol="0" anchor="t"/>
          <a:lstStyle/>
          <a:p>
            <a:pPr indent="0" marL="0">
              <a:buNone/>
            </a:pPr>
            <a:r>
              <a:rPr lang="en-US" sz="5400" dirty="0">
                <a:solidFill>
                  <a:srgbClr val="FF2A1A"/>
                </a:solidFill>
                <a:latin typeface="Impact" pitchFamily="34" charset="0"/>
                <a:ea typeface="Impact" pitchFamily="34" charset="-122"/>
                <a:cs typeface="Impact" pitchFamily="34" charset="-120"/>
              </a:rPr>
              <a:t>KEPERCAYAAN</a:t>
            </a:r>
            <a:endParaRPr lang="en-US" sz="5400" dirty="0"/>
          </a:p>
        </p:txBody>
      </p:sp>
      <p:sp>
        <p:nvSpPr>
          <p:cNvPr id="4" name="Shape 2"/>
          <p:cNvSpPr/>
          <p:nvPr/>
        </p:nvSpPr>
        <p:spPr>
          <a:xfrm>
            <a:off x="457200" y="2514600"/>
            <a:ext cx="1499616" cy="0"/>
          </a:xfrm>
          <a:prstGeom prst="line">
            <a:avLst/>
          </a:prstGeom>
          <a:noFill/>
          <a:ln w="31750">
            <a:solidFill>
              <a:srgbClr val="0B0B0B"/>
            </a:solidFill>
            <a:prstDash val="solid"/>
          </a:ln>
        </p:spPr>
      </p:sp>
      <p:sp>
        <p:nvSpPr>
          <p:cNvPr id="5" name="Text 3"/>
          <p:cNvSpPr txBox="1"/>
          <p:nvPr/>
        </p:nvSpPr>
        <p:spPr>
          <a:xfrm>
            <a:off x="457200"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01</a:t>
            </a:r>
            <a:endParaRPr lang="en-US" sz="3000" dirty="0"/>
          </a:p>
        </p:txBody>
      </p:sp>
      <p:sp>
        <p:nvSpPr>
          <p:cNvPr id="6" name="Text 4"/>
          <p:cNvSpPr txBox="1"/>
          <p:nvPr/>
        </p:nvSpPr>
        <p:spPr>
          <a:xfrm>
            <a:off x="457200"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KEBAJIKAN</a:t>
            </a:r>
            <a:endParaRPr lang="en-US" sz="1400" dirty="0"/>
          </a:p>
        </p:txBody>
      </p:sp>
      <p:sp>
        <p:nvSpPr>
          <p:cNvPr id="7" name="Text 5"/>
          <p:cNvSpPr txBox="1"/>
          <p:nvPr/>
        </p:nvSpPr>
        <p:spPr>
          <a:xfrm>
            <a:off x="457200" y="34747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Peduli dan tidak merugikan</a:t>
            </a:r>
            <a:endParaRPr lang="en-US" sz="1100" dirty="0"/>
          </a:p>
        </p:txBody>
      </p:sp>
      <p:sp>
        <p:nvSpPr>
          <p:cNvPr id="8" name="Shape 6"/>
          <p:cNvSpPr/>
          <p:nvPr/>
        </p:nvSpPr>
        <p:spPr>
          <a:xfrm>
            <a:off x="2139696" y="2514600"/>
            <a:ext cx="1499616" cy="0"/>
          </a:xfrm>
          <a:prstGeom prst="line">
            <a:avLst/>
          </a:prstGeom>
          <a:noFill/>
          <a:ln w="31750">
            <a:solidFill>
              <a:srgbClr val="0B0B0B"/>
            </a:solidFill>
            <a:prstDash val="solid"/>
          </a:ln>
        </p:spPr>
      </p:sp>
      <p:sp>
        <p:nvSpPr>
          <p:cNvPr id="9" name="Text 7"/>
          <p:cNvSpPr txBox="1"/>
          <p:nvPr/>
        </p:nvSpPr>
        <p:spPr>
          <a:xfrm>
            <a:off x="2139696"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02</a:t>
            </a:r>
            <a:endParaRPr lang="en-US" sz="3000" dirty="0"/>
          </a:p>
        </p:txBody>
      </p:sp>
      <p:sp>
        <p:nvSpPr>
          <p:cNvPr id="10" name="Text 8"/>
          <p:cNvSpPr txBox="1"/>
          <p:nvPr/>
        </p:nvSpPr>
        <p:spPr>
          <a:xfrm>
            <a:off x="2139696"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KEANDALAN</a:t>
            </a:r>
            <a:endParaRPr lang="en-US" sz="1400" dirty="0"/>
          </a:p>
        </p:txBody>
      </p:sp>
      <p:sp>
        <p:nvSpPr>
          <p:cNvPr id="11" name="Text 9"/>
          <p:cNvSpPr txBox="1"/>
          <p:nvPr/>
        </p:nvSpPr>
        <p:spPr>
          <a:xfrm>
            <a:off x="2139696" y="34747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Konsisten dan dapat diandalkan</a:t>
            </a:r>
            <a:endParaRPr lang="en-US" sz="1100" dirty="0"/>
          </a:p>
        </p:txBody>
      </p:sp>
      <p:sp>
        <p:nvSpPr>
          <p:cNvPr id="12" name="Shape 10"/>
          <p:cNvSpPr/>
          <p:nvPr/>
        </p:nvSpPr>
        <p:spPr>
          <a:xfrm>
            <a:off x="3822192" y="2514600"/>
            <a:ext cx="1499616" cy="0"/>
          </a:xfrm>
          <a:prstGeom prst="line">
            <a:avLst/>
          </a:prstGeom>
          <a:noFill/>
          <a:ln w="31750">
            <a:solidFill>
              <a:srgbClr val="0B0B0B"/>
            </a:solidFill>
            <a:prstDash val="solid"/>
          </a:ln>
        </p:spPr>
      </p:sp>
      <p:sp>
        <p:nvSpPr>
          <p:cNvPr id="13" name="Text 11"/>
          <p:cNvSpPr txBox="1"/>
          <p:nvPr/>
        </p:nvSpPr>
        <p:spPr>
          <a:xfrm>
            <a:off x="3822192"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03</a:t>
            </a:r>
            <a:endParaRPr lang="en-US" sz="3000" dirty="0"/>
          </a:p>
        </p:txBody>
      </p:sp>
      <p:sp>
        <p:nvSpPr>
          <p:cNvPr id="14" name="Text 12"/>
          <p:cNvSpPr txBox="1"/>
          <p:nvPr/>
        </p:nvSpPr>
        <p:spPr>
          <a:xfrm>
            <a:off x="3822192"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KOMPETENSI</a:t>
            </a:r>
            <a:endParaRPr lang="en-US" sz="1400" dirty="0"/>
          </a:p>
        </p:txBody>
      </p:sp>
      <p:sp>
        <p:nvSpPr>
          <p:cNvPr id="15" name="Text 13"/>
          <p:cNvSpPr txBox="1"/>
          <p:nvPr/>
        </p:nvSpPr>
        <p:spPr>
          <a:xfrm>
            <a:off x="3822192" y="34747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Mampu menjalankan peran</a:t>
            </a:r>
            <a:endParaRPr lang="en-US" sz="1100" dirty="0"/>
          </a:p>
        </p:txBody>
      </p:sp>
      <p:sp>
        <p:nvSpPr>
          <p:cNvPr id="16" name="Shape 14"/>
          <p:cNvSpPr/>
          <p:nvPr/>
        </p:nvSpPr>
        <p:spPr>
          <a:xfrm>
            <a:off x="5504688" y="2514600"/>
            <a:ext cx="1499616" cy="0"/>
          </a:xfrm>
          <a:prstGeom prst="line">
            <a:avLst/>
          </a:prstGeom>
          <a:noFill/>
          <a:ln w="31750">
            <a:solidFill>
              <a:srgbClr val="0B0B0B"/>
            </a:solidFill>
            <a:prstDash val="solid"/>
          </a:ln>
        </p:spPr>
      </p:sp>
      <p:sp>
        <p:nvSpPr>
          <p:cNvPr id="17" name="Text 15"/>
          <p:cNvSpPr txBox="1"/>
          <p:nvPr/>
        </p:nvSpPr>
        <p:spPr>
          <a:xfrm>
            <a:off x="5504688"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04</a:t>
            </a:r>
            <a:endParaRPr lang="en-US" sz="3000" dirty="0"/>
          </a:p>
        </p:txBody>
      </p:sp>
      <p:sp>
        <p:nvSpPr>
          <p:cNvPr id="18" name="Text 16"/>
          <p:cNvSpPr txBox="1"/>
          <p:nvPr/>
        </p:nvSpPr>
        <p:spPr>
          <a:xfrm>
            <a:off x="5504688"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KEJUJURAN</a:t>
            </a:r>
            <a:endParaRPr lang="en-US" sz="1400" dirty="0"/>
          </a:p>
        </p:txBody>
      </p:sp>
      <p:sp>
        <p:nvSpPr>
          <p:cNvPr id="19" name="Text 17"/>
          <p:cNvSpPr txBox="1"/>
          <p:nvPr/>
        </p:nvSpPr>
        <p:spPr>
          <a:xfrm>
            <a:off x="5504688" y="34747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Berkata benar</a:t>
            </a:r>
            <a:endParaRPr lang="en-US" sz="1100" dirty="0"/>
          </a:p>
        </p:txBody>
      </p:sp>
      <p:sp>
        <p:nvSpPr>
          <p:cNvPr id="20" name="Shape 18"/>
          <p:cNvSpPr/>
          <p:nvPr/>
        </p:nvSpPr>
        <p:spPr>
          <a:xfrm>
            <a:off x="7187184" y="2514600"/>
            <a:ext cx="1499616" cy="0"/>
          </a:xfrm>
          <a:prstGeom prst="line">
            <a:avLst/>
          </a:prstGeom>
          <a:noFill/>
          <a:ln w="31750">
            <a:solidFill>
              <a:srgbClr val="0B0B0B"/>
            </a:solidFill>
            <a:prstDash val="solid"/>
          </a:ln>
        </p:spPr>
      </p:sp>
      <p:sp>
        <p:nvSpPr>
          <p:cNvPr id="21" name="Text 19"/>
          <p:cNvSpPr txBox="1"/>
          <p:nvPr/>
        </p:nvSpPr>
        <p:spPr>
          <a:xfrm>
            <a:off x="7187184" y="2587752"/>
            <a:ext cx="1499616"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05</a:t>
            </a:r>
            <a:endParaRPr lang="en-US" sz="3000" dirty="0"/>
          </a:p>
        </p:txBody>
      </p:sp>
      <p:sp>
        <p:nvSpPr>
          <p:cNvPr id="22" name="Text 20"/>
          <p:cNvSpPr txBox="1"/>
          <p:nvPr/>
        </p:nvSpPr>
        <p:spPr>
          <a:xfrm>
            <a:off x="7187184" y="3063240"/>
            <a:ext cx="1499616" cy="365760"/>
          </a:xfrm>
          <a:prstGeom prst="rect">
            <a:avLst/>
          </a:prstGeom>
          <a:noFill/>
          <a:ln/>
        </p:spPr>
        <p:txBody>
          <a:bodyPr wrap="square" lIns="0" tIns="0" rIns="0" bIns="0" rtlCol="0" anchor="t"/>
          <a:lstStyle/>
          <a:p>
            <a:pPr indent="0" marL="0">
              <a:buNone/>
            </a:pPr>
            <a:r>
              <a:rPr lang="en-US" sz="1400" dirty="0">
                <a:solidFill>
                  <a:srgbClr val="0B0B0B"/>
                </a:solidFill>
                <a:latin typeface="Impact" pitchFamily="34" charset="0"/>
                <a:ea typeface="Impact" pitchFamily="34" charset="-122"/>
                <a:cs typeface="Impact" pitchFamily="34" charset="-120"/>
              </a:rPr>
              <a:t>KETERBUKAAN</a:t>
            </a:r>
            <a:endParaRPr lang="en-US" sz="1400" dirty="0"/>
          </a:p>
        </p:txBody>
      </p:sp>
      <p:sp>
        <p:nvSpPr>
          <p:cNvPr id="23" name="Text 21"/>
          <p:cNvSpPr txBox="1"/>
          <p:nvPr/>
        </p:nvSpPr>
        <p:spPr>
          <a:xfrm>
            <a:off x="7187184" y="3474720"/>
            <a:ext cx="1453896" cy="548640"/>
          </a:xfrm>
          <a:prstGeom prst="rect">
            <a:avLst/>
          </a:prstGeom>
          <a:noFill/>
          <a:ln/>
        </p:spPr>
        <p:txBody>
          <a:bodyPr wrap="square" lIns="0" tIns="0" rIns="0" bIns="0" rtlCol="0" anchor="t"/>
          <a:lstStyle/>
          <a:p>
            <a:pPr indent="0" marL="0">
              <a:buNone/>
            </a:pPr>
            <a:r>
              <a:rPr lang="en-US" sz="1100" b="1" dirty="0">
                <a:solidFill>
                  <a:srgbClr val="0B0B0B"/>
                </a:solidFill>
                <a:latin typeface="Arial Narrow" pitchFamily="34" charset="0"/>
                <a:ea typeface="Arial Narrow" pitchFamily="34" charset="-122"/>
                <a:cs typeface="Arial Narrow" pitchFamily="34" charset="-120"/>
              </a:rPr>
              <a:t>Terbuka berbagi informasi</a:t>
            </a:r>
            <a:endParaRPr lang="en-US" sz="1100" dirty="0"/>
          </a:p>
        </p:txBody>
      </p:sp>
      <p:pic>
        <p:nvPicPr>
          <p:cNvPr id="24"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
        <p:nvSpPr>
          <p:cNvPr id="25" name="Text 22"/>
          <p:cNvSpPr txBox="1"/>
          <p:nvPr/>
        </p:nvSpPr>
        <p:spPr>
          <a:xfrm>
            <a:off x="960120" y="4754880"/>
            <a:ext cx="6949440" cy="274320"/>
          </a:xfrm>
          <a:prstGeom prst="rect">
            <a:avLst/>
          </a:prstGeom>
          <a:noFill/>
          <a:ln/>
        </p:spPr>
        <p:txBody>
          <a:bodyPr wrap="square" lIns="0" tIns="0" rIns="0" bIns="0" rtlCol="0" anchor="t"/>
          <a:lstStyle/>
          <a:p>
            <a:pPr indent="0" marL="0">
              <a:buNone/>
            </a:pPr>
            <a:r>
              <a:rPr lang="en-US" sz="900" dirty="0">
                <a:solidFill>
                  <a:srgbClr val="444444"/>
                </a:solidFill>
                <a:latin typeface="Arial Narrow" pitchFamily="34" charset="0"/>
                <a:ea typeface="Arial Narrow" pitchFamily="34" charset="-122"/>
                <a:cs typeface="Arial Narrow" pitchFamily="34" charset="-120"/>
              </a:rPr>
              <a:t>Sumber: Hoy &amp; Miskel (2008). Trust tumbuh dari integritas dan keterbukaan (Jani, 2023)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502920"/>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SEKOLAH</a:t>
            </a:r>
            <a:endParaRPr lang="en-US" sz="4600" dirty="0"/>
          </a:p>
        </p:txBody>
      </p:sp>
      <p:sp>
        <p:nvSpPr>
          <p:cNvPr id="3" name="Text 1"/>
          <p:cNvSpPr txBox="1"/>
          <p:nvPr/>
        </p:nvSpPr>
        <p:spPr>
          <a:xfrm>
            <a:off x="786384" y="1075894"/>
            <a:ext cx="3931920" cy="618694"/>
          </a:xfrm>
          <a:prstGeom prst="rect">
            <a:avLst/>
          </a:prstGeom>
          <a:noFill/>
          <a:ln/>
        </p:spPr>
        <p:txBody>
          <a:bodyPr wrap="none" lIns="0" tIns="0" rIns="0" bIns="0" rtlCol="0" anchor="t"/>
          <a:lstStyle/>
          <a:p>
            <a:pPr indent="0" marL="0">
              <a:buNone/>
            </a:pPr>
            <a:r>
              <a:rPr lang="en-US" sz="4600" dirty="0">
                <a:solidFill>
                  <a:srgbClr val="FF2A1A"/>
                </a:solidFill>
                <a:latin typeface="Impact" pitchFamily="34" charset="0"/>
                <a:ea typeface="Impact" pitchFamily="34" charset="-122"/>
                <a:cs typeface="Impact" pitchFamily="34" charset="-120"/>
              </a:rPr>
              <a:t>SEHAT</a:t>
            </a:r>
            <a:endParaRPr lang="en-US" sz="4600" dirty="0"/>
          </a:p>
        </p:txBody>
      </p:sp>
      <p:sp>
        <p:nvSpPr>
          <p:cNvPr id="4" name="Shape 2"/>
          <p:cNvSpPr/>
          <p:nvPr/>
        </p:nvSpPr>
        <p:spPr>
          <a:xfrm>
            <a:off x="4297680" y="502920"/>
            <a:ext cx="4389120" cy="0"/>
          </a:xfrm>
          <a:prstGeom prst="line">
            <a:avLst/>
          </a:prstGeom>
          <a:noFill/>
          <a:ln w="31750">
            <a:solidFill>
              <a:srgbClr val="0B0B0B"/>
            </a:solidFill>
            <a:prstDash val="solid"/>
          </a:ln>
        </p:spPr>
      </p:sp>
      <p:sp>
        <p:nvSpPr>
          <p:cNvPr id="5" name="Shape 3"/>
          <p:cNvSpPr/>
          <p:nvPr/>
        </p:nvSpPr>
        <p:spPr>
          <a:xfrm>
            <a:off x="4297680" y="640080"/>
            <a:ext cx="457200" cy="457200"/>
          </a:xfrm>
          <a:prstGeom prst="ellipse">
            <a:avLst/>
          </a:prstGeom>
          <a:solidFill>
            <a:srgbClr val="0B0B0B"/>
          </a:solidFill>
          <a:ln w="12700">
            <a:solidFill>
              <a:srgbClr val="0B0B0B"/>
            </a:solidFill>
            <a:prstDash val="solid"/>
          </a:ln>
        </p:spPr>
      </p:sp>
      <p:sp>
        <p:nvSpPr>
          <p:cNvPr id="6" name="Text 4"/>
          <p:cNvSpPr txBox="1"/>
          <p:nvPr/>
        </p:nvSpPr>
        <p:spPr>
          <a:xfrm>
            <a:off x="4297680" y="64008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01</a:t>
            </a:r>
            <a:endParaRPr lang="en-US" sz="1300" dirty="0"/>
          </a:p>
        </p:txBody>
      </p:sp>
      <p:sp>
        <p:nvSpPr>
          <p:cNvPr id="7" name="Text 5"/>
          <p:cNvSpPr txBox="1"/>
          <p:nvPr/>
        </p:nvSpPr>
        <p:spPr>
          <a:xfrm>
            <a:off x="4937760" y="61264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INSTITUSIONAL</a:t>
            </a:r>
            <a:endParaRPr lang="en-US" sz="1500" dirty="0"/>
          </a:p>
        </p:txBody>
      </p:sp>
      <p:sp>
        <p:nvSpPr>
          <p:cNvPr id="8" name="Text 6"/>
          <p:cNvSpPr txBox="1"/>
          <p:nvPr/>
        </p:nvSpPr>
        <p:spPr>
          <a:xfrm>
            <a:off x="4937760" y="91440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Integritas institusional</a:t>
            </a:r>
            <a:endParaRPr lang="en-US" sz="1250" dirty="0"/>
          </a:p>
        </p:txBody>
      </p:sp>
      <p:sp>
        <p:nvSpPr>
          <p:cNvPr id="9" name="Text 7"/>
          <p:cNvSpPr txBox="1"/>
          <p:nvPr/>
        </p:nvSpPr>
        <p:spPr>
          <a:xfrm>
            <a:off x="4937760" y="127101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10" name="Shape 8"/>
          <p:cNvSpPr/>
          <p:nvPr/>
        </p:nvSpPr>
        <p:spPr>
          <a:xfrm>
            <a:off x="4297680" y="1463040"/>
            <a:ext cx="4389120" cy="0"/>
          </a:xfrm>
          <a:prstGeom prst="line">
            <a:avLst/>
          </a:prstGeom>
          <a:noFill/>
          <a:ln w="31750">
            <a:solidFill>
              <a:srgbClr val="0B0B0B"/>
            </a:solidFill>
            <a:prstDash val="solid"/>
          </a:ln>
        </p:spPr>
      </p:sp>
      <p:sp>
        <p:nvSpPr>
          <p:cNvPr id="11" name="Shape 9"/>
          <p:cNvSpPr/>
          <p:nvPr/>
        </p:nvSpPr>
        <p:spPr>
          <a:xfrm>
            <a:off x="4297680" y="1600200"/>
            <a:ext cx="457200" cy="457200"/>
          </a:xfrm>
          <a:prstGeom prst="ellipse">
            <a:avLst/>
          </a:prstGeom>
          <a:solidFill>
            <a:srgbClr val="FF2A1A"/>
          </a:solidFill>
          <a:ln w="12700">
            <a:solidFill>
              <a:srgbClr val="FF2A1A"/>
            </a:solidFill>
            <a:prstDash val="solid"/>
          </a:ln>
        </p:spPr>
      </p:sp>
      <p:sp>
        <p:nvSpPr>
          <p:cNvPr id="12" name="Text 10"/>
          <p:cNvSpPr txBox="1"/>
          <p:nvPr/>
        </p:nvSpPr>
        <p:spPr>
          <a:xfrm>
            <a:off x="4297680"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02</a:t>
            </a:r>
            <a:endParaRPr lang="en-US" sz="1300" dirty="0"/>
          </a:p>
        </p:txBody>
      </p:sp>
      <p:sp>
        <p:nvSpPr>
          <p:cNvPr id="13" name="Text 11"/>
          <p:cNvSpPr txBox="1"/>
          <p:nvPr/>
        </p:nvSpPr>
        <p:spPr>
          <a:xfrm>
            <a:off x="4937760" y="157276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MANAJERIAL</a:t>
            </a:r>
            <a:endParaRPr lang="en-US" sz="1500" dirty="0"/>
          </a:p>
        </p:txBody>
      </p:sp>
      <p:sp>
        <p:nvSpPr>
          <p:cNvPr id="14" name="Text 12"/>
          <p:cNvSpPr txBox="1"/>
          <p:nvPr/>
        </p:nvSpPr>
        <p:spPr>
          <a:xfrm>
            <a:off x="4937760" y="187452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Pengaruh kepala, konsiderasi, struktur, sumber daya</a:t>
            </a:r>
            <a:endParaRPr lang="en-US" sz="1250" dirty="0"/>
          </a:p>
        </p:txBody>
      </p:sp>
      <p:sp>
        <p:nvSpPr>
          <p:cNvPr id="15" name="Text 13"/>
          <p:cNvSpPr txBox="1"/>
          <p:nvPr/>
        </p:nvSpPr>
        <p:spPr>
          <a:xfrm>
            <a:off x="4937760" y="223113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16" name="Shape 14"/>
          <p:cNvSpPr/>
          <p:nvPr/>
        </p:nvSpPr>
        <p:spPr>
          <a:xfrm>
            <a:off x="4297680" y="2423160"/>
            <a:ext cx="4389120" cy="0"/>
          </a:xfrm>
          <a:prstGeom prst="line">
            <a:avLst/>
          </a:prstGeom>
          <a:noFill/>
          <a:ln w="31750">
            <a:solidFill>
              <a:srgbClr val="0B0B0B"/>
            </a:solidFill>
            <a:prstDash val="solid"/>
          </a:ln>
        </p:spPr>
      </p:sp>
      <p:sp>
        <p:nvSpPr>
          <p:cNvPr id="17" name="Shape 15"/>
          <p:cNvSpPr/>
          <p:nvPr/>
        </p:nvSpPr>
        <p:spPr>
          <a:xfrm>
            <a:off x="4297680" y="2560320"/>
            <a:ext cx="457200" cy="457200"/>
          </a:xfrm>
          <a:prstGeom prst="ellipse">
            <a:avLst/>
          </a:prstGeom>
          <a:solidFill>
            <a:srgbClr val="0B0B0B"/>
          </a:solidFill>
          <a:ln w="12700">
            <a:solidFill>
              <a:srgbClr val="0B0B0B"/>
            </a:solidFill>
            <a:prstDash val="solid"/>
          </a:ln>
        </p:spPr>
      </p:sp>
      <p:sp>
        <p:nvSpPr>
          <p:cNvPr id="18" name="Text 16"/>
          <p:cNvSpPr txBox="1"/>
          <p:nvPr/>
        </p:nvSpPr>
        <p:spPr>
          <a:xfrm>
            <a:off x="4297680" y="256032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03</a:t>
            </a:r>
            <a:endParaRPr lang="en-US" sz="1300" dirty="0"/>
          </a:p>
        </p:txBody>
      </p:sp>
      <p:sp>
        <p:nvSpPr>
          <p:cNvPr id="19" name="Text 17"/>
          <p:cNvSpPr txBox="1"/>
          <p:nvPr/>
        </p:nvSpPr>
        <p:spPr>
          <a:xfrm>
            <a:off x="4937760" y="253288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TEKNIS</a:t>
            </a:r>
            <a:endParaRPr lang="en-US" sz="1500" dirty="0"/>
          </a:p>
        </p:txBody>
      </p:sp>
      <p:sp>
        <p:nvSpPr>
          <p:cNvPr id="20" name="Text 18"/>
          <p:cNvSpPr txBox="1"/>
          <p:nvPr/>
        </p:nvSpPr>
        <p:spPr>
          <a:xfrm>
            <a:off x="4937760" y="283464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Moral guru dan penekanan akademik</a:t>
            </a:r>
            <a:endParaRPr lang="en-US" sz="1250" dirty="0"/>
          </a:p>
        </p:txBody>
      </p:sp>
      <p:sp>
        <p:nvSpPr>
          <p:cNvPr id="21" name="Text 19"/>
          <p:cNvSpPr txBox="1"/>
          <p:nvPr/>
        </p:nvSpPr>
        <p:spPr>
          <a:xfrm>
            <a:off x="4937760" y="319125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22" name="Shape 20"/>
          <p:cNvSpPr/>
          <p:nvPr/>
        </p:nvSpPr>
        <p:spPr>
          <a:xfrm>
            <a:off x="4297680" y="3383280"/>
            <a:ext cx="4389120" cy="0"/>
          </a:xfrm>
          <a:prstGeom prst="line">
            <a:avLst/>
          </a:prstGeom>
          <a:noFill/>
          <a:ln w="31750">
            <a:solidFill>
              <a:srgbClr val="0B0B0B"/>
            </a:solidFill>
            <a:prstDash val="solid"/>
          </a:ln>
        </p:spPr>
      </p:sp>
      <p:sp>
        <p:nvSpPr>
          <p:cNvPr id="23" name="Shape 21"/>
          <p:cNvSpPr/>
          <p:nvPr/>
        </p:nvSpPr>
        <p:spPr>
          <a:xfrm>
            <a:off x="4297680" y="3520440"/>
            <a:ext cx="457200" cy="457200"/>
          </a:xfrm>
          <a:prstGeom prst="ellipse">
            <a:avLst/>
          </a:prstGeom>
          <a:solidFill>
            <a:srgbClr val="FF2A1A"/>
          </a:solidFill>
          <a:ln w="12700">
            <a:solidFill>
              <a:srgbClr val="FF2A1A"/>
            </a:solidFill>
            <a:prstDash val="solid"/>
          </a:ln>
        </p:spPr>
      </p:sp>
      <p:sp>
        <p:nvSpPr>
          <p:cNvPr id="24" name="Text 22"/>
          <p:cNvSpPr txBox="1"/>
          <p:nvPr/>
        </p:nvSpPr>
        <p:spPr>
          <a:xfrm>
            <a:off x="4297680" y="352044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04</a:t>
            </a:r>
            <a:endParaRPr lang="en-US" sz="1300" dirty="0"/>
          </a:p>
        </p:txBody>
      </p:sp>
      <p:sp>
        <p:nvSpPr>
          <p:cNvPr id="25" name="Text 23"/>
          <p:cNvSpPr txBox="1"/>
          <p:nvPr/>
        </p:nvSpPr>
        <p:spPr>
          <a:xfrm>
            <a:off x="4937760" y="349300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CIRI SEKOLAH SEHAT</a:t>
            </a:r>
            <a:endParaRPr lang="en-US" sz="1500" dirty="0"/>
          </a:p>
        </p:txBody>
      </p:sp>
      <p:sp>
        <p:nvSpPr>
          <p:cNvPr id="26" name="Text 24"/>
          <p:cNvSpPr txBox="1"/>
          <p:nvPr/>
        </p:nvSpPr>
        <p:spPr>
          <a:xfrm>
            <a:off x="4937760" y="379476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Semangat tinggi, visi selaras</a:t>
            </a:r>
            <a:endParaRPr lang="en-US" sz="1250" dirty="0"/>
          </a:p>
        </p:txBody>
      </p:sp>
      <p:sp>
        <p:nvSpPr>
          <p:cNvPr id="27" name="Text 25"/>
          <p:cNvSpPr txBox="1"/>
          <p:nvPr/>
        </p:nvSpPr>
        <p:spPr>
          <a:xfrm>
            <a:off x="4937760" y="4151376"/>
            <a:ext cx="374904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(Huda, 2021)</a:t>
            </a:r>
            <a:endParaRPr lang="en-US" sz="900" dirty="0"/>
          </a:p>
        </p:txBody>
      </p:sp>
      <p:pic>
        <p:nvPicPr>
          <p:cNvPr id="28"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754880" y="502920"/>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PERUBAHAN</a:t>
            </a:r>
            <a:endParaRPr lang="en-US" sz="4600" dirty="0"/>
          </a:p>
        </p:txBody>
      </p:sp>
      <p:sp>
        <p:nvSpPr>
          <p:cNvPr id="3" name="Text 1"/>
          <p:cNvSpPr txBox="1"/>
          <p:nvPr/>
        </p:nvSpPr>
        <p:spPr>
          <a:xfrm>
            <a:off x="4754880" y="1075894"/>
            <a:ext cx="3931920" cy="618694"/>
          </a:xfrm>
          <a:prstGeom prst="rect">
            <a:avLst/>
          </a:prstGeom>
          <a:noFill/>
          <a:ln/>
        </p:spPr>
        <p:txBody>
          <a:bodyPr wrap="none" lIns="0" tIns="0" rIns="0" bIns="0" rtlCol="0" anchor="t"/>
          <a:lstStyle/>
          <a:p>
            <a:pPr indent="0" marL="0">
              <a:buNone/>
            </a:pPr>
            <a:r>
              <a:rPr lang="en-US" sz="4600" dirty="0">
                <a:solidFill>
                  <a:srgbClr val="FF2A1A"/>
                </a:solidFill>
                <a:latin typeface="Impact" pitchFamily="34" charset="0"/>
                <a:ea typeface="Impact" pitchFamily="34" charset="-122"/>
                <a:cs typeface="Impact" pitchFamily="34" charset="-120"/>
              </a:rPr>
              <a:t>&amp;</a:t>
            </a:r>
            <a:endParaRPr lang="en-US" sz="4600" dirty="0"/>
          </a:p>
        </p:txBody>
      </p:sp>
      <p:sp>
        <p:nvSpPr>
          <p:cNvPr id="4" name="Text 2"/>
          <p:cNvSpPr txBox="1"/>
          <p:nvPr/>
        </p:nvSpPr>
        <p:spPr>
          <a:xfrm>
            <a:off x="4919472" y="1648868"/>
            <a:ext cx="3931920" cy="618694"/>
          </a:xfrm>
          <a:prstGeom prst="rect">
            <a:avLst/>
          </a:prstGeom>
          <a:noFill/>
          <a:ln/>
        </p:spPr>
        <p:txBody>
          <a:bodyPr wrap="none" lIns="0" tIns="0" rIns="0" bIns="0" rtlCol="0" anchor="t"/>
          <a:lstStyle/>
          <a:p>
            <a:pPr indent="0" marL="0">
              <a:buNone/>
            </a:pPr>
            <a:r>
              <a:rPr lang="en-US" sz="4600" dirty="0">
                <a:solidFill>
                  <a:srgbClr val="FF2A1A"/>
                </a:solidFill>
                <a:latin typeface="Impact" pitchFamily="34" charset="0"/>
                <a:ea typeface="Impact" pitchFamily="34" charset="-122"/>
                <a:cs typeface="Impact" pitchFamily="34" charset="-120"/>
              </a:rPr>
              <a:t>RESISTENSI</a:t>
            </a:r>
            <a:endParaRPr lang="en-US" sz="4600" dirty="0"/>
          </a:p>
        </p:txBody>
      </p:sp>
      <p:sp>
        <p:nvSpPr>
          <p:cNvPr id="5" name="Shape 3"/>
          <p:cNvSpPr/>
          <p:nvPr/>
        </p:nvSpPr>
        <p:spPr>
          <a:xfrm>
            <a:off x="457200" y="502920"/>
            <a:ext cx="4023360" cy="0"/>
          </a:xfrm>
          <a:prstGeom prst="line">
            <a:avLst/>
          </a:prstGeom>
          <a:noFill/>
          <a:ln w="31750">
            <a:solidFill>
              <a:srgbClr val="0B0B0B"/>
            </a:solidFill>
            <a:prstDash val="solid"/>
          </a:ln>
        </p:spPr>
      </p:sp>
      <p:sp>
        <p:nvSpPr>
          <p:cNvPr id="6" name="Shape 4"/>
          <p:cNvSpPr/>
          <p:nvPr/>
        </p:nvSpPr>
        <p:spPr>
          <a:xfrm>
            <a:off x="457200" y="640080"/>
            <a:ext cx="457200" cy="457200"/>
          </a:xfrm>
          <a:prstGeom prst="ellipse">
            <a:avLst/>
          </a:prstGeom>
          <a:solidFill>
            <a:srgbClr val="0B0B0B"/>
          </a:solidFill>
          <a:ln w="12700">
            <a:solidFill>
              <a:srgbClr val="0B0B0B"/>
            </a:solidFill>
            <a:prstDash val="solid"/>
          </a:ln>
        </p:spPr>
      </p:sp>
      <p:sp>
        <p:nvSpPr>
          <p:cNvPr id="7" name="Text 5"/>
          <p:cNvSpPr txBox="1"/>
          <p:nvPr/>
        </p:nvSpPr>
        <p:spPr>
          <a:xfrm>
            <a:off x="457200" y="64008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01</a:t>
            </a:r>
            <a:endParaRPr lang="en-US" sz="1300" dirty="0"/>
          </a:p>
        </p:txBody>
      </p:sp>
      <p:sp>
        <p:nvSpPr>
          <p:cNvPr id="8" name="Text 6"/>
          <p:cNvSpPr txBox="1"/>
          <p:nvPr/>
        </p:nvSpPr>
        <p:spPr>
          <a:xfrm>
            <a:off x="1097280" y="61264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TANPA JALAN PINTAS</a:t>
            </a:r>
            <a:endParaRPr lang="en-US" sz="1500" dirty="0"/>
          </a:p>
        </p:txBody>
      </p:sp>
      <p:sp>
        <p:nvSpPr>
          <p:cNvPr id="9" name="Text 7"/>
          <p:cNvSpPr txBox="1"/>
          <p:nvPr/>
        </p:nvSpPr>
        <p:spPr>
          <a:xfrm>
            <a:off x="1097280" y="91440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Jangka panjang dan sistemik</a:t>
            </a:r>
            <a:endParaRPr lang="en-US" sz="1250" dirty="0"/>
          </a:p>
        </p:txBody>
      </p:sp>
      <p:sp>
        <p:nvSpPr>
          <p:cNvPr id="10" name="Text 8"/>
          <p:cNvSpPr txBox="1"/>
          <p:nvPr/>
        </p:nvSpPr>
        <p:spPr>
          <a:xfrm>
            <a:off x="1097280" y="127101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11" name="Shape 9"/>
          <p:cNvSpPr/>
          <p:nvPr/>
        </p:nvSpPr>
        <p:spPr>
          <a:xfrm>
            <a:off x="457200" y="1463040"/>
            <a:ext cx="4023360" cy="0"/>
          </a:xfrm>
          <a:prstGeom prst="line">
            <a:avLst/>
          </a:prstGeom>
          <a:noFill/>
          <a:ln w="31750">
            <a:solidFill>
              <a:srgbClr val="0B0B0B"/>
            </a:solidFill>
            <a:prstDash val="solid"/>
          </a:ln>
        </p:spPr>
      </p:sp>
      <p:sp>
        <p:nvSpPr>
          <p:cNvPr id="12" name="Shape 10"/>
          <p:cNvSpPr/>
          <p:nvPr/>
        </p:nvSpPr>
        <p:spPr>
          <a:xfrm>
            <a:off x="457200" y="1600200"/>
            <a:ext cx="457200" cy="457200"/>
          </a:xfrm>
          <a:prstGeom prst="ellipse">
            <a:avLst/>
          </a:prstGeom>
          <a:solidFill>
            <a:srgbClr val="FF2A1A"/>
          </a:solidFill>
          <a:ln w="12700">
            <a:solidFill>
              <a:srgbClr val="FF2A1A"/>
            </a:solidFill>
            <a:prstDash val="solid"/>
          </a:ln>
        </p:spPr>
      </p:sp>
      <p:sp>
        <p:nvSpPr>
          <p:cNvPr id="13" name="Text 11"/>
          <p:cNvSpPr txBox="1"/>
          <p:nvPr/>
        </p:nvSpPr>
        <p:spPr>
          <a:xfrm>
            <a:off x="457200"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02</a:t>
            </a:r>
            <a:endParaRPr lang="en-US" sz="1300" dirty="0"/>
          </a:p>
        </p:txBody>
      </p:sp>
      <p:sp>
        <p:nvSpPr>
          <p:cNvPr id="14" name="Text 12"/>
          <p:cNvSpPr txBox="1"/>
          <p:nvPr/>
        </p:nvSpPr>
        <p:spPr>
          <a:xfrm>
            <a:off x="1097280" y="157276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NORMA PALING MUDAH</a:t>
            </a:r>
            <a:endParaRPr lang="en-US" sz="1500" dirty="0"/>
          </a:p>
        </p:txBody>
      </p:sp>
      <p:sp>
        <p:nvSpPr>
          <p:cNvPr id="15" name="Text 13"/>
          <p:cNvSpPr txBox="1"/>
          <p:nvPr/>
        </p:nvSpPr>
        <p:spPr>
          <a:xfrm>
            <a:off x="1097280" y="187452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Nilai dan asumsi lebih sukar</a:t>
            </a:r>
            <a:endParaRPr lang="en-US" sz="1250" dirty="0"/>
          </a:p>
        </p:txBody>
      </p:sp>
      <p:sp>
        <p:nvSpPr>
          <p:cNvPr id="16" name="Text 14"/>
          <p:cNvSpPr txBox="1"/>
          <p:nvPr/>
        </p:nvSpPr>
        <p:spPr>
          <a:xfrm>
            <a:off x="1097280" y="223113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sp>
        <p:nvSpPr>
          <p:cNvPr id="17" name="Shape 15"/>
          <p:cNvSpPr/>
          <p:nvPr/>
        </p:nvSpPr>
        <p:spPr>
          <a:xfrm>
            <a:off x="457200" y="2423160"/>
            <a:ext cx="4023360" cy="0"/>
          </a:xfrm>
          <a:prstGeom prst="line">
            <a:avLst/>
          </a:prstGeom>
          <a:noFill/>
          <a:ln w="31750">
            <a:solidFill>
              <a:srgbClr val="0B0B0B"/>
            </a:solidFill>
            <a:prstDash val="solid"/>
          </a:ln>
        </p:spPr>
      </p:sp>
      <p:sp>
        <p:nvSpPr>
          <p:cNvPr id="18" name="Shape 16"/>
          <p:cNvSpPr/>
          <p:nvPr/>
        </p:nvSpPr>
        <p:spPr>
          <a:xfrm>
            <a:off x="457200" y="2560320"/>
            <a:ext cx="457200" cy="457200"/>
          </a:xfrm>
          <a:prstGeom prst="ellipse">
            <a:avLst/>
          </a:prstGeom>
          <a:solidFill>
            <a:srgbClr val="0B0B0B"/>
          </a:solidFill>
          <a:ln w="12700">
            <a:solidFill>
              <a:srgbClr val="0B0B0B"/>
            </a:solidFill>
            <a:prstDash val="solid"/>
          </a:ln>
        </p:spPr>
      </p:sp>
      <p:sp>
        <p:nvSpPr>
          <p:cNvPr id="19" name="Text 17"/>
          <p:cNvSpPr txBox="1"/>
          <p:nvPr/>
        </p:nvSpPr>
        <p:spPr>
          <a:xfrm>
            <a:off x="457200" y="256032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03</a:t>
            </a:r>
            <a:endParaRPr lang="en-US" sz="1300" dirty="0"/>
          </a:p>
        </p:txBody>
      </p:sp>
      <p:sp>
        <p:nvSpPr>
          <p:cNvPr id="20" name="Text 18"/>
          <p:cNvSpPr txBox="1"/>
          <p:nvPr/>
        </p:nvSpPr>
        <p:spPr>
          <a:xfrm>
            <a:off x="1097280" y="253288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SEBAB RESISTENSI</a:t>
            </a:r>
            <a:endParaRPr lang="en-US" sz="1500" dirty="0"/>
          </a:p>
        </p:txBody>
      </p:sp>
      <p:sp>
        <p:nvSpPr>
          <p:cNvPr id="21" name="Text 19"/>
          <p:cNvSpPr txBox="1"/>
          <p:nvPr/>
        </p:nvSpPr>
        <p:spPr>
          <a:xfrm>
            <a:off x="1097280" y="283464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Nyaman, cemas, kompetensi terbatas</a:t>
            </a:r>
            <a:endParaRPr lang="en-US" sz="1250" dirty="0"/>
          </a:p>
        </p:txBody>
      </p:sp>
      <p:sp>
        <p:nvSpPr>
          <p:cNvPr id="22" name="Text 20"/>
          <p:cNvSpPr txBox="1"/>
          <p:nvPr/>
        </p:nvSpPr>
        <p:spPr>
          <a:xfrm>
            <a:off x="1097280" y="319125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(Putri dkk., 2025)</a:t>
            </a:r>
            <a:endParaRPr lang="en-US" sz="900" dirty="0"/>
          </a:p>
        </p:txBody>
      </p:sp>
      <p:sp>
        <p:nvSpPr>
          <p:cNvPr id="23" name="Shape 21"/>
          <p:cNvSpPr/>
          <p:nvPr/>
        </p:nvSpPr>
        <p:spPr>
          <a:xfrm>
            <a:off x="457200" y="3383280"/>
            <a:ext cx="4023360" cy="0"/>
          </a:xfrm>
          <a:prstGeom prst="line">
            <a:avLst/>
          </a:prstGeom>
          <a:noFill/>
          <a:ln w="31750">
            <a:solidFill>
              <a:srgbClr val="0B0B0B"/>
            </a:solidFill>
            <a:prstDash val="solid"/>
          </a:ln>
        </p:spPr>
      </p:sp>
      <p:sp>
        <p:nvSpPr>
          <p:cNvPr id="24" name="Shape 22"/>
          <p:cNvSpPr/>
          <p:nvPr/>
        </p:nvSpPr>
        <p:spPr>
          <a:xfrm>
            <a:off x="457200" y="3520440"/>
            <a:ext cx="457200" cy="457200"/>
          </a:xfrm>
          <a:prstGeom prst="ellipse">
            <a:avLst/>
          </a:prstGeom>
          <a:solidFill>
            <a:srgbClr val="FF2A1A"/>
          </a:solidFill>
          <a:ln w="12700">
            <a:solidFill>
              <a:srgbClr val="FF2A1A"/>
            </a:solidFill>
            <a:prstDash val="solid"/>
          </a:ln>
        </p:spPr>
      </p:sp>
      <p:sp>
        <p:nvSpPr>
          <p:cNvPr id="25" name="Text 23"/>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04</a:t>
            </a:r>
            <a:endParaRPr lang="en-US" sz="1300" dirty="0"/>
          </a:p>
        </p:txBody>
      </p:sp>
      <p:sp>
        <p:nvSpPr>
          <p:cNvPr id="26" name="Text 24"/>
          <p:cNvSpPr txBox="1"/>
          <p:nvPr/>
        </p:nvSpPr>
        <p:spPr>
          <a:xfrm>
            <a:off x="1097280" y="3493008"/>
            <a:ext cx="338328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PERTAHANAN SOSIAL</a:t>
            </a:r>
            <a:endParaRPr lang="en-US" sz="1500" dirty="0"/>
          </a:p>
        </p:txBody>
      </p:sp>
      <p:sp>
        <p:nvSpPr>
          <p:cNvPr id="27" name="Text 25"/>
          <p:cNvSpPr txBox="1"/>
          <p:nvPr/>
        </p:nvSpPr>
        <p:spPr>
          <a:xfrm>
            <a:off x="1097280" y="3794760"/>
            <a:ext cx="338328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Resistensi bukan sekadar membangkang</a:t>
            </a:r>
            <a:endParaRPr lang="en-US" sz="1250" dirty="0"/>
          </a:p>
        </p:txBody>
      </p:sp>
      <p:sp>
        <p:nvSpPr>
          <p:cNvPr id="28" name="Text 26"/>
          <p:cNvSpPr txBox="1"/>
          <p:nvPr/>
        </p:nvSpPr>
        <p:spPr>
          <a:xfrm>
            <a:off x="1097280" y="4151376"/>
            <a:ext cx="3383280" cy="182880"/>
          </a:xfrm>
          <a:prstGeom prst="rect">
            <a:avLst/>
          </a:prstGeom>
          <a:noFill/>
          <a:ln/>
        </p:spPr>
        <p:txBody>
          <a:bodyPr wrap="square" lIns="0" tIns="0" rIns="0" bIns="0" rtlCol="0" anchor="t"/>
          <a:lstStyle/>
          <a:p>
            <a:pPr indent="0" marL="0">
              <a:buNone/>
            </a:pPr>
            <a:r>
              <a:rPr lang="en-US" sz="900" dirty="0">
                <a:solidFill>
                  <a:srgbClr val="C01E12"/>
                </a:solidFill>
                <a:latin typeface="Arial Narrow" pitchFamily="34" charset="0"/>
                <a:ea typeface="Arial Narrow" pitchFamily="34" charset="-122"/>
                <a:cs typeface="Arial Narrow" pitchFamily="34" charset="-120"/>
              </a:rPr>
              <a:t>(Hoy &amp; Miskel, 2008)</a:t>
            </a:r>
            <a:endParaRPr lang="en-US" sz="900" dirty="0"/>
          </a:p>
        </p:txBody>
      </p:sp>
      <p:pic>
        <p:nvPicPr>
          <p:cNvPr id="29"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718342"/>
          </a:xfrm>
          <a:prstGeom prst="rect">
            <a:avLst/>
          </a:prstGeom>
          <a:noFill/>
          <a:ln/>
        </p:spPr>
        <p:txBody>
          <a:bodyPr wrap="none" lIns="0" tIns="0" rIns="0" bIns="0" rtlCol="0" anchor="t"/>
          <a:lstStyle/>
          <a:p>
            <a:pPr indent="0" marL="0">
              <a:buNone/>
            </a:pPr>
            <a:r>
              <a:rPr lang="en-US" sz="5400" dirty="0">
                <a:solidFill>
                  <a:srgbClr val="0B0B0B"/>
                </a:solidFill>
                <a:latin typeface="Impact" pitchFamily="34" charset="0"/>
                <a:ea typeface="Impact" pitchFamily="34" charset="-122"/>
                <a:cs typeface="Impact" pitchFamily="34" charset="-120"/>
              </a:rPr>
              <a:t>TIGA STRATEGI</a:t>
            </a:r>
            <a:endParaRPr lang="en-US" sz="5400" dirty="0"/>
          </a:p>
        </p:txBody>
      </p:sp>
      <p:sp>
        <p:nvSpPr>
          <p:cNvPr id="3" name="Text 1"/>
          <p:cNvSpPr txBox="1"/>
          <p:nvPr/>
        </p:nvSpPr>
        <p:spPr>
          <a:xfrm>
            <a:off x="786384" y="1084102"/>
            <a:ext cx="8229600" cy="718342"/>
          </a:xfrm>
          <a:prstGeom prst="rect">
            <a:avLst/>
          </a:prstGeom>
          <a:noFill/>
          <a:ln/>
        </p:spPr>
        <p:txBody>
          <a:bodyPr wrap="none" lIns="0" tIns="0" rIns="0" bIns="0" rtlCol="0" anchor="t"/>
          <a:lstStyle/>
          <a:p>
            <a:pPr indent="0" marL="0">
              <a:buNone/>
            </a:pPr>
            <a:r>
              <a:rPr lang="en-US" sz="5400" dirty="0">
                <a:solidFill>
                  <a:srgbClr val="FF2A1A"/>
                </a:solidFill>
                <a:latin typeface="Impact" pitchFamily="34" charset="0"/>
                <a:ea typeface="Impact" pitchFamily="34" charset="-122"/>
                <a:cs typeface="Impact" pitchFamily="34" charset="-120"/>
              </a:rPr>
              <a:t>PERUBAHAN</a:t>
            </a:r>
            <a:endParaRPr lang="en-US" sz="5400" dirty="0"/>
          </a:p>
        </p:txBody>
      </p:sp>
      <p:sp>
        <p:nvSpPr>
          <p:cNvPr id="4" name="Shape 2"/>
          <p:cNvSpPr/>
          <p:nvPr/>
        </p:nvSpPr>
        <p:spPr>
          <a:xfrm>
            <a:off x="457200" y="2514600"/>
            <a:ext cx="2621280" cy="0"/>
          </a:xfrm>
          <a:prstGeom prst="line">
            <a:avLst/>
          </a:prstGeom>
          <a:noFill/>
          <a:ln w="31750">
            <a:solidFill>
              <a:srgbClr val="0B0B0B"/>
            </a:solidFill>
            <a:prstDash val="solid"/>
          </a:ln>
        </p:spPr>
      </p:sp>
      <p:sp>
        <p:nvSpPr>
          <p:cNvPr id="5" name="Text 3"/>
          <p:cNvSpPr txBox="1"/>
          <p:nvPr/>
        </p:nvSpPr>
        <p:spPr>
          <a:xfrm>
            <a:off x="45720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01</a:t>
            </a:r>
            <a:endParaRPr lang="en-US" sz="3000" dirty="0"/>
          </a:p>
        </p:txBody>
      </p:sp>
      <p:sp>
        <p:nvSpPr>
          <p:cNvPr id="6" name="Text 4"/>
          <p:cNvSpPr txBox="1"/>
          <p:nvPr/>
        </p:nvSpPr>
        <p:spPr>
          <a:xfrm>
            <a:off x="45720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KLINIS</a:t>
            </a:r>
            <a:endParaRPr lang="en-US" sz="1600" dirty="0"/>
          </a:p>
        </p:txBody>
      </p:sp>
      <p:sp>
        <p:nvSpPr>
          <p:cNvPr id="7" name="Text 5"/>
          <p:cNvSpPr txBox="1"/>
          <p:nvPr/>
        </p:nvSpPr>
        <p:spPr>
          <a:xfrm>
            <a:off x="457200" y="34747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Kenali, diagnosis, prognosis, preskripsi, evaluasi</a:t>
            </a:r>
            <a:endParaRPr lang="en-US" sz="1250" dirty="0"/>
          </a:p>
        </p:txBody>
      </p:sp>
      <p:sp>
        <p:nvSpPr>
          <p:cNvPr id="8" name="Text 6"/>
          <p:cNvSpPr txBox="1"/>
          <p:nvPr/>
        </p:nvSpPr>
        <p:spPr>
          <a:xfrm>
            <a:off x="45720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sp>
        <p:nvSpPr>
          <p:cNvPr id="9" name="Shape 7"/>
          <p:cNvSpPr/>
          <p:nvPr/>
        </p:nvSpPr>
        <p:spPr>
          <a:xfrm>
            <a:off x="3261360" y="2514600"/>
            <a:ext cx="2621280" cy="0"/>
          </a:xfrm>
          <a:prstGeom prst="line">
            <a:avLst/>
          </a:prstGeom>
          <a:noFill/>
          <a:ln w="31750">
            <a:solidFill>
              <a:srgbClr val="0B0B0B"/>
            </a:solidFill>
            <a:prstDash val="solid"/>
          </a:ln>
        </p:spPr>
      </p:sp>
      <p:sp>
        <p:nvSpPr>
          <p:cNvPr id="10" name="Text 8"/>
          <p:cNvSpPr txBox="1"/>
          <p:nvPr/>
        </p:nvSpPr>
        <p:spPr>
          <a:xfrm>
            <a:off x="326136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02</a:t>
            </a:r>
            <a:endParaRPr lang="en-US" sz="3000" dirty="0"/>
          </a:p>
        </p:txBody>
      </p:sp>
      <p:sp>
        <p:nvSpPr>
          <p:cNvPr id="11" name="Text 9"/>
          <p:cNvSpPr txBox="1"/>
          <p:nvPr/>
        </p:nvSpPr>
        <p:spPr>
          <a:xfrm>
            <a:off x="326136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BERPUSAT PADA PERTUMBUHAN</a:t>
            </a:r>
            <a:endParaRPr lang="en-US" sz="1600" dirty="0"/>
          </a:p>
        </p:txBody>
      </p:sp>
      <p:sp>
        <p:nvSpPr>
          <p:cNvPr id="12" name="Text 10"/>
          <p:cNvSpPr txBox="1"/>
          <p:nvPr/>
        </p:nvSpPr>
        <p:spPr>
          <a:xfrm>
            <a:off x="3261360" y="37033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Guru berpotensi mengembangkan perubahan</a:t>
            </a:r>
            <a:endParaRPr lang="en-US" sz="1250" dirty="0"/>
          </a:p>
        </p:txBody>
      </p:sp>
      <p:sp>
        <p:nvSpPr>
          <p:cNvPr id="13" name="Text 11"/>
          <p:cNvSpPr txBox="1"/>
          <p:nvPr/>
        </p:nvSpPr>
        <p:spPr>
          <a:xfrm>
            <a:off x="326136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sp>
        <p:nvSpPr>
          <p:cNvPr id="14" name="Shape 12"/>
          <p:cNvSpPr/>
          <p:nvPr/>
        </p:nvSpPr>
        <p:spPr>
          <a:xfrm>
            <a:off x="6065520" y="2514600"/>
            <a:ext cx="2621280" cy="0"/>
          </a:xfrm>
          <a:prstGeom prst="line">
            <a:avLst/>
          </a:prstGeom>
          <a:noFill/>
          <a:ln w="31750">
            <a:solidFill>
              <a:srgbClr val="0B0B0B"/>
            </a:solidFill>
            <a:prstDash val="solid"/>
          </a:ln>
        </p:spPr>
      </p:sp>
      <p:sp>
        <p:nvSpPr>
          <p:cNvPr id="15" name="Text 13"/>
          <p:cNvSpPr txBox="1"/>
          <p:nvPr/>
        </p:nvSpPr>
        <p:spPr>
          <a:xfrm>
            <a:off x="6065520" y="2587752"/>
            <a:ext cx="262128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03</a:t>
            </a:r>
            <a:endParaRPr lang="en-US" sz="3000" dirty="0"/>
          </a:p>
        </p:txBody>
      </p:sp>
      <p:sp>
        <p:nvSpPr>
          <p:cNvPr id="16" name="Text 14"/>
          <p:cNvSpPr txBox="1"/>
          <p:nvPr/>
        </p:nvSpPr>
        <p:spPr>
          <a:xfrm>
            <a:off x="6065520" y="3063240"/>
            <a:ext cx="262128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UBAH NORMA</a:t>
            </a:r>
            <a:endParaRPr lang="en-US" sz="1600" dirty="0"/>
          </a:p>
        </p:txBody>
      </p:sp>
      <p:sp>
        <p:nvSpPr>
          <p:cNvPr id="17" name="Text 15"/>
          <p:cNvSpPr txBox="1"/>
          <p:nvPr/>
        </p:nvSpPr>
        <p:spPr>
          <a:xfrm>
            <a:off x="6065520" y="3474720"/>
            <a:ext cx="257556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Ungkap, arahkan, tetapkan, tutup kesenjangan</a:t>
            </a:r>
            <a:endParaRPr lang="en-US" sz="1250" dirty="0"/>
          </a:p>
        </p:txBody>
      </p:sp>
      <p:sp>
        <p:nvSpPr>
          <p:cNvPr id="18" name="Text 16"/>
          <p:cNvSpPr txBox="1"/>
          <p:nvPr/>
        </p:nvSpPr>
        <p:spPr>
          <a:xfrm>
            <a:off x="6065520" y="4297680"/>
            <a:ext cx="2621280" cy="182880"/>
          </a:xfrm>
          <a:prstGeom prst="rect">
            <a:avLst/>
          </a:prstGeom>
          <a:noFill/>
          <a:ln/>
        </p:spPr>
        <p:txBody>
          <a:bodyPr wrap="square" lIns="0" tIns="0" rIns="0" bIns="0" rtlCol="0" anchor="t"/>
          <a:lstStyle/>
          <a:p>
            <a:pPr indent="0" marL="0">
              <a:buNone/>
            </a:pPr>
            <a:r>
              <a:rPr lang="en-US" sz="850" dirty="0">
                <a:solidFill>
                  <a:srgbClr val="C01E12"/>
                </a:solidFill>
                <a:latin typeface="Arial Narrow" pitchFamily="34" charset="0"/>
                <a:ea typeface="Arial Narrow" pitchFamily="34" charset="-122"/>
                <a:cs typeface="Arial Narrow" pitchFamily="34" charset="-120"/>
              </a:rPr>
              <a:t>(Hoy &amp; Miskel, 2008)</a:t>
            </a:r>
            <a:endParaRPr lang="en-US" sz="850" dirty="0"/>
          </a:p>
        </p:txBody>
      </p:sp>
      <p:pic>
        <p:nvPicPr>
          <p:cNvPr id="19"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502920"/>
            <a:ext cx="3931920" cy="618694"/>
          </a:xfrm>
          <a:prstGeom prst="rect">
            <a:avLst/>
          </a:prstGeom>
          <a:noFill/>
          <a:ln/>
        </p:spPr>
        <p:txBody>
          <a:bodyPr wrap="none" lIns="0" tIns="0" rIns="0" bIns="0" rtlCol="0" anchor="t"/>
          <a:lstStyle/>
          <a:p>
            <a:pPr indent="0" marL="0">
              <a:buNone/>
            </a:pPr>
            <a:r>
              <a:rPr lang="en-US" sz="4600" dirty="0">
                <a:solidFill>
                  <a:srgbClr val="FF2A1A"/>
                </a:solidFill>
                <a:latin typeface="Impact" pitchFamily="34" charset="0"/>
                <a:ea typeface="Impact" pitchFamily="34" charset="-122"/>
                <a:cs typeface="Impact" pitchFamily="34" charset="-120"/>
              </a:rPr>
              <a:t>KESIMPULAN</a:t>
            </a:r>
            <a:endParaRPr lang="en-US" sz="4600" dirty="0"/>
          </a:p>
        </p:txBody>
      </p:sp>
      <p:sp>
        <p:nvSpPr>
          <p:cNvPr id="3" name="Text 1"/>
          <p:cNvSpPr txBox="1"/>
          <p:nvPr/>
        </p:nvSpPr>
        <p:spPr>
          <a:xfrm>
            <a:off x="786384" y="1075894"/>
            <a:ext cx="3931920" cy="618694"/>
          </a:xfrm>
          <a:prstGeom prst="rect">
            <a:avLst/>
          </a:prstGeom>
          <a:noFill/>
          <a:ln/>
        </p:spPr>
        <p:txBody>
          <a:bodyPr wrap="none" lIns="0" tIns="0" rIns="0" bIns="0" rtlCol="0" anchor="t"/>
          <a:lstStyle/>
          <a:p>
            <a:pPr indent="0" marL="0">
              <a:buNone/>
            </a:pPr>
            <a:r>
              <a:rPr lang="en-US" sz="4600" dirty="0">
                <a:solidFill>
                  <a:srgbClr val="0B0B0B"/>
                </a:solidFill>
                <a:latin typeface="Impact" pitchFamily="34" charset="0"/>
                <a:ea typeface="Impact" pitchFamily="34" charset="-122"/>
                <a:cs typeface="Impact" pitchFamily="34" charset="-120"/>
              </a:rPr>
              <a:t>UMUM</a:t>
            </a:r>
            <a:endParaRPr lang="en-US" sz="4600" dirty="0"/>
          </a:p>
        </p:txBody>
      </p:sp>
      <p:sp>
        <p:nvSpPr>
          <p:cNvPr id="4" name="Shape 2"/>
          <p:cNvSpPr/>
          <p:nvPr/>
        </p:nvSpPr>
        <p:spPr>
          <a:xfrm>
            <a:off x="4297680" y="502920"/>
            <a:ext cx="4389120" cy="0"/>
          </a:xfrm>
          <a:prstGeom prst="line">
            <a:avLst/>
          </a:prstGeom>
          <a:noFill/>
          <a:ln w="31750">
            <a:solidFill>
              <a:srgbClr val="0B0B0B"/>
            </a:solidFill>
            <a:prstDash val="solid"/>
          </a:ln>
        </p:spPr>
      </p:sp>
      <p:sp>
        <p:nvSpPr>
          <p:cNvPr id="5" name="Shape 3"/>
          <p:cNvSpPr/>
          <p:nvPr/>
        </p:nvSpPr>
        <p:spPr>
          <a:xfrm>
            <a:off x="4297680" y="640080"/>
            <a:ext cx="457200" cy="457200"/>
          </a:xfrm>
          <a:prstGeom prst="ellipse">
            <a:avLst/>
          </a:prstGeom>
          <a:solidFill>
            <a:srgbClr val="0B0B0B"/>
          </a:solidFill>
          <a:ln w="12700">
            <a:solidFill>
              <a:srgbClr val="0B0B0B"/>
            </a:solidFill>
            <a:prstDash val="solid"/>
          </a:ln>
        </p:spPr>
      </p:sp>
      <p:sp>
        <p:nvSpPr>
          <p:cNvPr id="6" name="Text 4"/>
          <p:cNvSpPr txBox="1"/>
          <p:nvPr/>
        </p:nvSpPr>
        <p:spPr>
          <a:xfrm>
            <a:off x="4297680" y="64008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01</a:t>
            </a:r>
            <a:endParaRPr lang="en-US" sz="1300" dirty="0"/>
          </a:p>
        </p:txBody>
      </p:sp>
      <p:sp>
        <p:nvSpPr>
          <p:cNvPr id="7" name="Text 5"/>
          <p:cNvSpPr txBox="1"/>
          <p:nvPr/>
        </p:nvSpPr>
        <p:spPr>
          <a:xfrm>
            <a:off x="4937760" y="61264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BUDAYA, LALU IKLIM</a:t>
            </a:r>
            <a:endParaRPr lang="en-US" sz="1500" dirty="0"/>
          </a:p>
        </p:txBody>
      </p:sp>
      <p:sp>
        <p:nvSpPr>
          <p:cNvPr id="8" name="Text 6"/>
          <p:cNvSpPr txBox="1"/>
          <p:nvPr/>
        </p:nvSpPr>
        <p:spPr>
          <a:xfrm>
            <a:off x="4937760" y="91440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Orientasi bersama membentuk iklim</a:t>
            </a:r>
            <a:endParaRPr lang="en-US" sz="1250" dirty="0"/>
          </a:p>
        </p:txBody>
      </p:sp>
      <p:sp>
        <p:nvSpPr>
          <p:cNvPr id="9" name="Shape 7"/>
          <p:cNvSpPr/>
          <p:nvPr/>
        </p:nvSpPr>
        <p:spPr>
          <a:xfrm>
            <a:off x="4297680" y="1463040"/>
            <a:ext cx="4389120" cy="0"/>
          </a:xfrm>
          <a:prstGeom prst="line">
            <a:avLst/>
          </a:prstGeom>
          <a:noFill/>
          <a:ln w="31750">
            <a:solidFill>
              <a:srgbClr val="0B0B0B"/>
            </a:solidFill>
            <a:prstDash val="solid"/>
          </a:ln>
        </p:spPr>
      </p:sp>
      <p:sp>
        <p:nvSpPr>
          <p:cNvPr id="10" name="Shape 8"/>
          <p:cNvSpPr/>
          <p:nvPr/>
        </p:nvSpPr>
        <p:spPr>
          <a:xfrm>
            <a:off x="4297680" y="1600200"/>
            <a:ext cx="457200" cy="457200"/>
          </a:xfrm>
          <a:prstGeom prst="ellipse">
            <a:avLst/>
          </a:prstGeom>
          <a:solidFill>
            <a:srgbClr val="FF2A1A"/>
          </a:solidFill>
          <a:ln w="12700">
            <a:solidFill>
              <a:srgbClr val="FF2A1A"/>
            </a:solidFill>
            <a:prstDash val="solid"/>
          </a:ln>
        </p:spPr>
      </p:sp>
      <p:sp>
        <p:nvSpPr>
          <p:cNvPr id="11" name="Text 9"/>
          <p:cNvSpPr txBox="1"/>
          <p:nvPr/>
        </p:nvSpPr>
        <p:spPr>
          <a:xfrm>
            <a:off x="4297680" y="160020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02</a:t>
            </a:r>
            <a:endParaRPr lang="en-US" sz="1300" dirty="0"/>
          </a:p>
        </p:txBody>
      </p:sp>
      <p:sp>
        <p:nvSpPr>
          <p:cNvPr id="12" name="Text 10"/>
          <p:cNvSpPr txBox="1"/>
          <p:nvPr/>
        </p:nvSpPr>
        <p:spPr>
          <a:xfrm>
            <a:off x="4937760" y="157276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IKLIM, LALU TRUST</a:t>
            </a:r>
            <a:endParaRPr lang="en-US" sz="1500" dirty="0"/>
          </a:p>
        </p:txBody>
      </p:sp>
      <p:sp>
        <p:nvSpPr>
          <p:cNvPr id="13" name="Text 11"/>
          <p:cNvSpPr txBox="1"/>
          <p:nvPr/>
        </p:nvSpPr>
        <p:spPr>
          <a:xfrm>
            <a:off x="4937760" y="187452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Iklim terbuka menumbuhkan kepercayaan</a:t>
            </a:r>
            <a:endParaRPr lang="en-US" sz="1250" dirty="0"/>
          </a:p>
        </p:txBody>
      </p:sp>
      <p:sp>
        <p:nvSpPr>
          <p:cNvPr id="14" name="Shape 12"/>
          <p:cNvSpPr/>
          <p:nvPr/>
        </p:nvSpPr>
        <p:spPr>
          <a:xfrm>
            <a:off x="4297680" y="2423160"/>
            <a:ext cx="4389120" cy="0"/>
          </a:xfrm>
          <a:prstGeom prst="line">
            <a:avLst/>
          </a:prstGeom>
          <a:noFill/>
          <a:ln w="31750">
            <a:solidFill>
              <a:srgbClr val="0B0B0B"/>
            </a:solidFill>
            <a:prstDash val="solid"/>
          </a:ln>
        </p:spPr>
      </p:sp>
      <p:sp>
        <p:nvSpPr>
          <p:cNvPr id="15" name="Shape 13"/>
          <p:cNvSpPr/>
          <p:nvPr/>
        </p:nvSpPr>
        <p:spPr>
          <a:xfrm>
            <a:off x="4297680" y="2560320"/>
            <a:ext cx="457200" cy="457200"/>
          </a:xfrm>
          <a:prstGeom prst="ellipse">
            <a:avLst/>
          </a:prstGeom>
          <a:solidFill>
            <a:srgbClr val="0B0B0B"/>
          </a:solidFill>
          <a:ln w="12700">
            <a:solidFill>
              <a:srgbClr val="0B0B0B"/>
            </a:solidFill>
            <a:prstDash val="solid"/>
          </a:ln>
        </p:spPr>
      </p:sp>
      <p:sp>
        <p:nvSpPr>
          <p:cNvPr id="16" name="Text 14"/>
          <p:cNvSpPr txBox="1"/>
          <p:nvPr/>
        </p:nvSpPr>
        <p:spPr>
          <a:xfrm>
            <a:off x="4297680" y="256032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03</a:t>
            </a:r>
            <a:endParaRPr lang="en-US" sz="1300" dirty="0"/>
          </a:p>
        </p:txBody>
      </p:sp>
      <p:sp>
        <p:nvSpPr>
          <p:cNvPr id="17" name="Text 15"/>
          <p:cNvSpPr txBox="1"/>
          <p:nvPr/>
        </p:nvSpPr>
        <p:spPr>
          <a:xfrm>
            <a:off x="4937760" y="253288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TRUST, LALU HEALTH</a:t>
            </a:r>
            <a:endParaRPr lang="en-US" sz="1500" dirty="0"/>
          </a:p>
        </p:txBody>
      </p:sp>
      <p:sp>
        <p:nvSpPr>
          <p:cNvPr id="18" name="Text 16"/>
          <p:cNvSpPr txBox="1"/>
          <p:nvPr/>
        </p:nvSpPr>
        <p:spPr>
          <a:xfrm>
            <a:off x="4937760" y="283464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Kepercayaan menopang kesehatan</a:t>
            </a:r>
            <a:endParaRPr lang="en-US" sz="1250" dirty="0"/>
          </a:p>
        </p:txBody>
      </p:sp>
      <p:sp>
        <p:nvSpPr>
          <p:cNvPr id="19" name="Shape 17"/>
          <p:cNvSpPr/>
          <p:nvPr/>
        </p:nvSpPr>
        <p:spPr>
          <a:xfrm>
            <a:off x="4297680" y="3383280"/>
            <a:ext cx="4389120" cy="0"/>
          </a:xfrm>
          <a:prstGeom prst="line">
            <a:avLst/>
          </a:prstGeom>
          <a:noFill/>
          <a:ln w="31750">
            <a:solidFill>
              <a:srgbClr val="0B0B0B"/>
            </a:solidFill>
            <a:prstDash val="solid"/>
          </a:ln>
        </p:spPr>
      </p:sp>
      <p:sp>
        <p:nvSpPr>
          <p:cNvPr id="20" name="Shape 18"/>
          <p:cNvSpPr/>
          <p:nvPr/>
        </p:nvSpPr>
        <p:spPr>
          <a:xfrm>
            <a:off x="4297680" y="3520440"/>
            <a:ext cx="457200" cy="457200"/>
          </a:xfrm>
          <a:prstGeom prst="ellipse">
            <a:avLst/>
          </a:prstGeom>
          <a:solidFill>
            <a:srgbClr val="FF2A1A"/>
          </a:solidFill>
          <a:ln w="12700">
            <a:solidFill>
              <a:srgbClr val="FF2A1A"/>
            </a:solidFill>
            <a:prstDash val="solid"/>
          </a:ln>
        </p:spPr>
      </p:sp>
      <p:sp>
        <p:nvSpPr>
          <p:cNvPr id="21" name="Text 19"/>
          <p:cNvSpPr txBox="1"/>
          <p:nvPr/>
        </p:nvSpPr>
        <p:spPr>
          <a:xfrm>
            <a:off x="4297680" y="3520440"/>
            <a:ext cx="457200" cy="457200"/>
          </a:xfrm>
          <a:prstGeom prst="rect">
            <a:avLst/>
          </a:prstGeom>
          <a:noFill/>
          <a:ln/>
        </p:spPr>
        <p:txBody>
          <a:bodyPr wrap="square" lIns="0" tIns="0" rIns="0" bIns="0" rtlCol="0" anchor="ctr"/>
          <a:lstStyle/>
          <a:p>
            <a:pPr algn="ctr" indent="0" marL="0">
              <a:buNone/>
            </a:pPr>
            <a:r>
              <a:rPr lang="en-US" sz="1300" dirty="0">
                <a:solidFill>
                  <a:srgbClr val="FFFFFF"/>
                </a:solidFill>
                <a:latin typeface="Impact" pitchFamily="34" charset="0"/>
                <a:ea typeface="Impact" pitchFamily="34" charset="-122"/>
                <a:cs typeface="Impact" pitchFamily="34" charset="-120"/>
              </a:rPr>
              <a:t>04</a:t>
            </a:r>
            <a:endParaRPr lang="en-US" sz="1300" dirty="0"/>
          </a:p>
        </p:txBody>
      </p:sp>
      <p:sp>
        <p:nvSpPr>
          <p:cNvPr id="22" name="Text 20"/>
          <p:cNvSpPr txBox="1"/>
          <p:nvPr/>
        </p:nvSpPr>
        <p:spPr>
          <a:xfrm>
            <a:off x="4937760" y="3493008"/>
            <a:ext cx="3749040" cy="274320"/>
          </a:xfrm>
          <a:prstGeom prst="rect">
            <a:avLst/>
          </a:prstGeom>
          <a:noFill/>
          <a:ln/>
        </p:spPr>
        <p:txBody>
          <a:bodyPr wrap="square" lIns="0" tIns="0" rIns="0" bIns="0" rtlCol="0" anchor="t"/>
          <a:lstStyle/>
          <a:p>
            <a:pPr indent="0" marL="0">
              <a:buNone/>
            </a:pPr>
            <a:r>
              <a:rPr lang="en-US" sz="1500" dirty="0">
                <a:solidFill>
                  <a:srgbClr val="0B0B0B"/>
                </a:solidFill>
                <a:latin typeface="Impact" pitchFamily="34" charset="0"/>
                <a:ea typeface="Impact" pitchFamily="34" charset="-122"/>
                <a:cs typeface="Impact" pitchFamily="34" charset="-120"/>
              </a:rPr>
              <a:t>PERUBAHAN</a:t>
            </a:r>
            <a:endParaRPr lang="en-US" sz="1500" dirty="0"/>
          </a:p>
        </p:txBody>
      </p:sp>
      <p:sp>
        <p:nvSpPr>
          <p:cNvPr id="23" name="Text 21"/>
          <p:cNvSpPr txBox="1"/>
          <p:nvPr/>
        </p:nvSpPr>
        <p:spPr>
          <a:xfrm>
            <a:off x="4937760" y="3794760"/>
            <a:ext cx="3749040" cy="36576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Pekerjaan jangka panjang</a:t>
            </a:r>
            <a:endParaRPr lang="en-US" sz="1250" dirty="0"/>
          </a:p>
        </p:txBody>
      </p:sp>
      <p:pic>
        <p:nvPicPr>
          <p:cNvPr id="24"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
        <p:nvSpPr>
          <p:cNvPr id="25" name="Text 22"/>
          <p:cNvSpPr txBox="1"/>
          <p:nvPr/>
        </p:nvSpPr>
        <p:spPr>
          <a:xfrm>
            <a:off x="960120" y="4754880"/>
            <a:ext cx="6949440" cy="274320"/>
          </a:xfrm>
          <a:prstGeom prst="rect">
            <a:avLst/>
          </a:prstGeom>
          <a:noFill/>
          <a:ln/>
        </p:spPr>
        <p:txBody>
          <a:bodyPr wrap="square" lIns="0" tIns="0" rIns="0" bIns="0" rtlCol="0" anchor="t"/>
          <a:lstStyle/>
          <a:p>
            <a:pPr indent="0" marL="0">
              <a:buNone/>
            </a:pPr>
            <a:r>
              <a:rPr lang="en-US" sz="900" dirty="0">
                <a:solidFill>
                  <a:srgbClr val="444444"/>
                </a:solidFill>
                <a:latin typeface="Arial Narrow" pitchFamily="34" charset="0"/>
                <a:ea typeface="Arial Narrow" pitchFamily="34" charset="-122"/>
                <a:cs typeface="Arial Narrow" pitchFamily="34" charset="-120"/>
              </a:rPr>
              <a:t>Sumber: Bab IV.A makalah; Hoy &amp; Miskel (2008)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718342"/>
          </a:xfrm>
          <a:prstGeom prst="rect">
            <a:avLst/>
          </a:prstGeom>
          <a:noFill/>
          <a:ln/>
        </p:spPr>
        <p:txBody>
          <a:bodyPr wrap="none" lIns="0" tIns="0" rIns="0" bIns="0" rtlCol="0" anchor="t"/>
          <a:lstStyle/>
          <a:p>
            <a:pPr indent="0" marL="0">
              <a:buNone/>
            </a:pPr>
            <a:r>
              <a:rPr lang="en-US" sz="5400" dirty="0">
                <a:solidFill>
                  <a:srgbClr val="FF2A1A"/>
                </a:solidFill>
                <a:latin typeface="Impact" pitchFamily="34" charset="0"/>
                <a:ea typeface="Impact" pitchFamily="34" charset="-122"/>
                <a:cs typeface="Impact" pitchFamily="34" charset="-120"/>
              </a:rPr>
              <a:t>REKOMENDASI</a:t>
            </a:r>
            <a:endParaRPr lang="en-US" sz="5400" dirty="0"/>
          </a:p>
        </p:txBody>
      </p:sp>
      <p:sp>
        <p:nvSpPr>
          <p:cNvPr id="3" name="Shape 1"/>
          <p:cNvSpPr/>
          <p:nvPr/>
        </p:nvSpPr>
        <p:spPr>
          <a:xfrm>
            <a:off x="457200" y="2514600"/>
            <a:ext cx="1920240" cy="0"/>
          </a:xfrm>
          <a:prstGeom prst="line">
            <a:avLst/>
          </a:prstGeom>
          <a:noFill/>
          <a:ln w="31750">
            <a:solidFill>
              <a:srgbClr val="0B0B0B"/>
            </a:solidFill>
            <a:prstDash val="solid"/>
          </a:ln>
        </p:spPr>
      </p:sp>
      <p:sp>
        <p:nvSpPr>
          <p:cNvPr id="4" name="Text 2"/>
          <p:cNvSpPr txBox="1"/>
          <p:nvPr/>
        </p:nvSpPr>
        <p:spPr>
          <a:xfrm>
            <a:off x="457200" y="2587752"/>
            <a:ext cx="192024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01</a:t>
            </a:r>
            <a:endParaRPr lang="en-US" sz="3000" dirty="0"/>
          </a:p>
        </p:txBody>
      </p:sp>
      <p:sp>
        <p:nvSpPr>
          <p:cNvPr id="5" name="Text 3"/>
          <p:cNvSpPr txBox="1"/>
          <p:nvPr/>
        </p:nvSpPr>
        <p:spPr>
          <a:xfrm>
            <a:off x="457200" y="306324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NILAI LEWAT MUSYAWARAH</a:t>
            </a:r>
            <a:endParaRPr lang="en-US" sz="1600" dirty="0"/>
          </a:p>
        </p:txBody>
      </p:sp>
      <p:sp>
        <p:nvSpPr>
          <p:cNvPr id="6" name="Text 4"/>
          <p:cNvSpPr txBox="1"/>
          <p:nvPr/>
        </p:nvSpPr>
        <p:spPr>
          <a:xfrm>
            <a:off x="457200" y="3703320"/>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Keteladanan jadi praktik harian</a:t>
            </a:r>
            <a:endParaRPr lang="en-US" sz="1250" dirty="0"/>
          </a:p>
        </p:txBody>
      </p:sp>
      <p:sp>
        <p:nvSpPr>
          <p:cNvPr id="7" name="Shape 5"/>
          <p:cNvSpPr/>
          <p:nvPr/>
        </p:nvSpPr>
        <p:spPr>
          <a:xfrm>
            <a:off x="2560320" y="2514600"/>
            <a:ext cx="1920240" cy="0"/>
          </a:xfrm>
          <a:prstGeom prst="line">
            <a:avLst/>
          </a:prstGeom>
          <a:noFill/>
          <a:ln w="31750">
            <a:solidFill>
              <a:srgbClr val="0B0B0B"/>
            </a:solidFill>
            <a:prstDash val="solid"/>
          </a:ln>
        </p:spPr>
      </p:sp>
      <p:sp>
        <p:nvSpPr>
          <p:cNvPr id="8" name="Text 6"/>
          <p:cNvSpPr txBox="1"/>
          <p:nvPr/>
        </p:nvSpPr>
        <p:spPr>
          <a:xfrm>
            <a:off x="2560320" y="2587752"/>
            <a:ext cx="192024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02</a:t>
            </a:r>
            <a:endParaRPr lang="en-US" sz="3000" dirty="0"/>
          </a:p>
        </p:txBody>
      </p:sp>
      <p:sp>
        <p:nvSpPr>
          <p:cNvPr id="9" name="Text 7"/>
          <p:cNvSpPr txBox="1"/>
          <p:nvPr/>
        </p:nvSpPr>
        <p:spPr>
          <a:xfrm>
            <a:off x="2560320" y="306324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SURVEI ANONIM</a:t>
            </a:r>
            <a:endParaRPr lang="en-US" sz="1600" dirty="0"/>
          </a:p>
        </p:txBody>
      </p:sp>
      <p:sp>
        <p:nvSpPr>
          <p:cNvPr id="10" name="Text 8"/>
          <p:cNvSpPr txBox="1"/>
          <p:nvPr/>
        </p:nvSpPr>
        <p:spPr>
          <a:xfrm>
            <a:off x="2560320" y="3474720"/>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Bandingkan dengan persepsi pimpinan</a:t>
            </a:r>
            <a:endParaRPr lang="en-US" sz="1250" dirty="0"/>
          </a:p>
        </p:txBody>
      </p:sp>
      <p:sp>
        <p:nvSpPr>
          <p:cNvPr id="11" name="Shape 9"/>
          <p:cNvSpPr/>
          <p:nvPr/>
        </p:nvSpPr>
        <p:spPr>
          <a:xfrm>
            <a:off x="4663440" y="2514600"/>
            <a:ext cx="1920240" cy="0"/>
          </a:xfrm>
          <a:prstGeom prst="line">
            <a:avLst/>
          </a:prstGeom>
          <a:noFill/>
          <a:ln w="31750">
            <a:solidFill>
              <a:srgbClr val="0B0B0B"/>
            </a:solidFill>
            <a:prstDash val="solid"/>
          </a:ln>
        </p:spPr>
      </p:sp>
      <p:sp>
        <p:nvSpPr>
          <p:cNvPr id="12" name="Text 10"/>
          <p:cNvSpPr txBox="1"/>
          <p:nvPr/>
        </p:nvSpPr>
        <p:spPr>
          <a:xfrm>
            <a:off x="4663440" y="2587752"/>
            <a:ext cx="192024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03</a:t>
            </a:r>
            <a:endParaRPr lang="en-US" sz="3000" dirty="0"/>
          </a:p>
        </p:txBody>
      </p:sp>
      <p:sp>
        <p:nvSpPr>
          <p:cNvPr id="13" name="Text 11"/>
          <p:cNvSpPr txBox="1"/>
          <p:nvPr/>
        </p:nvSpPr>
        <p:spPr>
          <a:xfrm>
            <a:off x="4663440" y="306324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UBAH BERTAHAP</a:t>
            </a:r>
            <a:endParaRPr lang="en-US" sz="1600" dirty="0"/>
          </a:p>
        </p:txBody>
      </p:sp>
      <p:sp>
        <p:nvSpPr>
          <p:cNvPr id="14" name="Text 12"/>
          <p:cNvSpPr txBox="1"/>
          <p:nvPr/>
        </p:nvSpPr>
        <p:spPr>
          <a:xfrm>
            <a:off x="4663440" y="3474720"/>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Ungkap norma, latih, evaluasi</a:t>
            </a:r>
            <a:endParaRPr lang="en-US" sz="1250" dirty="0"/>
          </a:p>
        </p:txBody>
      </p:sp>
      <p:sp>
        <p:nvSpPr>
          <p:cNvPr id="15" name="Shape 13"/>
          <p:cNvSpPr/>
          <p:nvPr/>
        </p:nvSpPr>
        <p:spPr>
          <a:xfrm>
            <a:off x="6766560" y="2514600"/>
            <a:ext cx="1920240" cy="0"/>
          </a:xfrm>
          <a:prstGeom prst="line">
            <a:avLst/>
          </a:prstGeom>
          <a:noFill/>
          <a:ln w="31750">
            <a:solidFill>
              <a:srgbClr val="0B0B0B"/>
            </a:solidFill>
            <a:prstDash val="solid"/>
          </a:ln>
        </p:spPr>
      </p:sp>
      <p:sp>
        <p:nvSpPr>
          <p:cNvPr id="16" name="Text 14"/>
          <p:cNvSpPr txBox="1"/>
          <p:nvPr/>
        </p:nvSpPr>
        <p:spPr>
          <a:xfrm>
            <a:off x="6766560" y="2587752"/>
            <a:ext cx="1920240" cy="411480"/>
          </a:xfrm>
          <a:prstGeom prst="rect">
            <a:avLst/>
          </a:prstGeom>
          <a:noFill/>
          <a:ln/>
        </p:spPr>
        <p:txBody>
          <a:bodyPr wrap="square" lIns="0" tIns="0" rIns="0" bIns="0" rtlCol="0" anchor="t"/>
          <a:lstStyle/>
          <a:p>
            <a:pPr indent="0" marL="0">
              <a:buNone/>
            </a:pPr>
            <a:r>
              <a:rPr lang="en-US" sz="3000" dirty="0">
                <a:solidFill>
                  <a:srgbClr val="FF2A1A"/>
                </a:solidFill>
                <a:latin typeface="Impact" pitchFamily="34" charset="0"/>
                <a:ea typeface="Impact" pitchFamily="34" charset="-122"/>
                <a:cs typeface="Impact" pitchFamily="34" charset="-120"/>
              </a:rPr>
              <a:t>04</a:t>
            </a:r>
            <a:endParaRPr lang="en-US" sz="3000" dirty="0"/>
          </a:p>
        </p:txBody>
      </p:sp>
      <p:sp>
        <p:nvSpPr>
          <p:cNvPr id="17" name="Text 15"/>
          <p:cNvSpPr txBox="1"/>
          <p:nvPr/>
        </p:nvSpPr>
        <p:spPr>
          <a:xfrm>
            <a:off x="6766560" y="3063240"/>
            <a:ext cx="1920240" cy="365760"/>
          </a:xfrm>
          <a:prstGeom prst="rect">
            <a:avLst/>
          </a:prstGeom>
          <a:noFill/>
          <a:ln/>
        </p:spPr>
        <p:txBody>
          <a:bodyPr wrap="square" lIns="0" tIns="0" rIns="0" bIns="0" rtlCol="0" anchor="t"/>
          <a:lstStyle/>
          <a:p>
            <a:pPr indent="0" marL="0">
              <a:buNone/>
            </a:pPr>
            <a:r>
              <a:rPr lang="en-US" sz="1600" dirty="0">
                <a:solidFill>
                  <a:srgbClr val="0B0B0B"/>
                </a:solidFill>
                <a:latin typeface="Impact" pitchFamily="34" charset="0"/>
                <a:ea typeface="Impact" pitchFamily="34" charset="-122"/>
                <a:cs typeface="Impact" pitchFamily="34" charset="-120"/>
              </a:rPr>
              <a:t>RISET LANJUTAN</a:t>
            </a:r>
            <a:endParaRPr lang="en-US" sz="1600" dirty="0"/>
          </a:p>
        </p:txBody>
      </p:sp>
      <p:sp>
        <p:nvSpPr>
          <p:cNvPr id="18" name="Text 16"/>
          <p:cNvSpPr txBox="1"/>
          <p:nvPr/>
        </p:nvSpPr>
        <p:spPr>
          <a:xfrm>
            <a:off x="6766560" y="3474720"/>
            <a:ext cx="1874520" cy="548640"/>
          </a:xfrm>
          <a:prstGeom prst="rect">
            <a:avLst/>
          </a:prstGeom>
          <a:noFill/>
          <a:ln/>
        </p:spPr>
        <p:txBody>
          <a:bodyPr wrap="square" lIns="0" tIns="0" rIns="0" bIns="0" rtlCol="0" anchor="t"/>
          <a:lstStyle/>
          <a:p>
            <a:pPr indent="0" marL="0">
              <a:buNone/>
            </a:pPr>
            <a:r>
              <a:rPr lang="en-US" sz="1250" b="1" dirty="0">
                <a:solidFill>
                  <a:srgbClr val="0B0B0B"/>
                </a:solidFill>
                <a:latin typeface="Arial Narrow" pitchFamily="34" charset="0"/>
                <a:ea typeface="Arial Narrow" pitchFamily="34" charset="-122"/>
                <a:cs typeface="Arial Narrow" pitchFamily="34" charset="-120"/>
              </a:rPr>
              <a:t>Uji integritas institusional dan subbudaya</a:t>
            </a:r>
            <a:endParaRPr lang="en-US" sz="1250" dirty="0"/>
          </a:p>
        </p:txBody>
      </p:sp>
      <p:pic>
        <p:nvPicPr>
          <p:cNvPr id="19" name="Image 0" descr="/mnt/user-data/outputs/logo.png">    </p:cNvPr>
          <p:cNvPicPr>
            <a:picLocks noChangeAspect="1"/>
          </p:cNvPicPr>
          <p:nvPr/>
        </p:nvPicPr>
        <p:blipFill>
          <a:blip r:embed="rId1"/>
          <a:stretch>
            <a:fillRect/>
          </a:stretch>
        </p:blipFill>
        <p:spPr>
          <a:xfrm>
            <a:off x="457200" y="4526280"/>
            <a:ext cx="365760" cy="548640"/>
          </a:xfrm>
          <a:prstGeom prst="rect">
            <a:avLst/>
          </a:prstGeom>
        </p:spPr>
      </p:pic>
      <p:sp>
        <p:nvSpPr>
          <p:cNvPr id="20" name="Text 17"/>
          <p:cNvSpPr txBox="1"/>
          <p:nvPr/>
        </p:nvSpPr>
        <p:spPr>
          <a:xfrm>
            <a:off x="960120" y="4754880"/>
            <a:ext cx="6949440" cy="274320"/>
          </a:xfrm>
          <a:prstGeom prst="rect">
            <a:avLst/>
          </a:prstGeom>
          <a:noFill/>
          <a:ln/>
        </p:spPr>
        <p:txBody>
          <a:bodyPr wrap="square" lIns="0" tIns="0" rIns="0" bIns="0" rtlCol="0" anchor="t"/>
          <a:lstStyle/>
          <a:p>
            <a:pPr indent="0" marL="0">
              <a:buNone/>
            </a:pPr>
            <a:r>
              <a:rPr lang="en-US" sz="900" dirty="0">
                <a:solidFill>
                  <a:srgbClr val="444444"/>
                </a:solidFill>
                <a:latin typeface="Arial Narrow" pitchFamily="34" charset="0"/>
                <a:ea typeface="Arial Narrow" pitchFamily="34" charset="-122"/>
                <a:cs typeface="Arial Narrow" pitchFamily="34" charset="-120"/>
              </a:rPr>
              <a:t>Sumber: Bab IV.C makalah; Hoy &amp; Miskel (2008)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CECEC"/>
        </a:solidFill>
      </p:bgPr>
    </p:bg>
    <p:spTree>
      <p:nvGrpSpPr>
        <p:cNvPr id="1" name=""/>
        <p:cNvGrpSpPr/>
        <p:nvPr/>
      </p:nvGrpSpPr>
      <p:grpSpPr>
        <a:xfrm>
          <a:off x="0" y="0"/>
          <a:ext cx="0" cy="0"/>
          <a:chOff x="0" y="0"/>
          <a:chExt cx="0" cy="0"/>
        </a:xfrm>
      </p:grpSpPr>
      <p:sp>
        <p:nvSpPr>
          <p:cNvPr id="2" name="Text 0"/>
          <p:cNvSpPr txBox="1"/>
          <p:nvPr/>
        </p:nvSpPr>
        <p:spPr>
          <a:xfrm>
            <a:off x="457200" y="822960"/>
            <a:ext cx="5486400" cy="668518"/>
          </a:xfrm>
          <a:prstGeom prst="rect">
            <a:avLst/>
          </a:prstGeom>
          <a:noFill/>
          <a:ln/>
        </p:spPr>
        <p:txBody>
          <a:bodyPr wrap="none" lIns="0" tIns="0" rIns="0" bIns="0" rtlCol="0" anchor="t"/>
          <a:lstStyle/>
          <a:p>
            <a:pPr indent="0" marL="0">
              <a:buNone/>
            </a:pPr>
            <a:r>
              <a:rPr lang="en-US" sz="5000" dirty="0">
                <a:solidFill>
                  <a:srgbClr val="FF2A1A"/>
                </a:solidFill>
                <a:latin typeface="Impact" pitchFamily="34" charset="0"/>
                <a:ea typeface="Impact" pitchFamily="34" charset="-122"/>
                <a:cs typeface="Impact" pitchFamily="34" charset="-120"/>
              </a:rPr>
              <a:t>TERIMA</a:t>
            </a:r>
            <a:endParaRPr lang="en-US" sz="5000" dirty="0"/>
          </a:p>
        </p:txBody>
      </p:sp>
      <p:sp>
        <p:nvSpPr>
          <p:cNvPr id="3" name="Text 1"/>
          <p:cNvSpPr txBox="1"/>
          <p:nvPr/>
        </p:nvSpPr>
        <p:spPr>
          <a:xfrm>
            <a:off x="786384" y="1445758"/>
            <a:ext cx="5486400" cy="668518"/>
          </a:xfrm>
          <a:prstGeom prst="rect">
            <a:avLst/>
          </a:prstGeom>
          <a:noFill/>
          <a:ln/>
        </p:spPr>
        <p:txBody>
          <a:bodyPr wrap="none" lIns="0" tIns="0" rIns="0" bIns="0" rtlCol="0" anchor="t"/>
          <a:lstStyle/>
          <a:p>
            <a:pPr indent="0" marL="0">
              <a:buNone/>
            </a:pPr>
            <a:r>
              <a:rPr lang="en-US" sz="5000" dirty="0">
                <a:solidFill>
                  <a:srgbClr val="0B0B0B"/>
                </a:solidFill>
                <a:latin typeface="Impact" pitchFamily="34" charset="0"/>
                <a:ea typeface="Impact" pitchFamily="34" charset="-122"/>
                <a:cs typeface="Impact" pitchFamily="34" charset="-120"/>
              </a:rPr>
              <a:t>KASIH</a:t>
            </a:r>
            <a:endParaRPr lang="en-US" sz="5000" dirty="0"/>
          </a:p>
        </p:txBody>
      </p:sp>
      <p:sp>
        <p:nvSpPr>
          <p:cNvPr id="4" name="Text 2"/>
          <p:cNvSpPr txBox="1"/>
          <p:nvPr/>
        </p:nvSpPr>
        <p:spPr>
          <a:xfrm>
            <a:off x="457200" y="2743200"/>
            <a:ext cx="5486400" cy="640080"/>
          </a:xfrm>
          <a:prstGeom prst="rect">
            <a:avLst/>
          </a:prstGeom>
          <a:noFill/>
          <a:ln/>
        </p:spPr>
        <p:txBody>
          <a:bodyPr wrap="square" lIns="0" tIns="0" rIns="0" bIns="0" rtlCol="0" anchor="t"/>
          <a:lstStyle/>
          <a:p>
            <a:pPr indent="0" marL="0">
              <a:buNone/>
            </a:pPr>
            <a:r>
              <a:rPr lang="en-US" sz="1200" b="1" dirty="0">
                <a:solidFill>
                  <a:srgbClr val="0B0B0B"/>
                </a:solidFill>
                <a:latin typeface="Arial Narrow" pitchFamily="34" charset="0"/>
                <a:ea typeface="Arial Narrow" pitchFamily="34" charset="-122"/>
                <a:cs typeface="Arial Narrow" pitchFamily="34" charset="-120"/>
              </a:rPr>
              <a:t>Tanya jawab dan diskusi</a:t>
            </a:r>
            <a:endParaRPr lang="en-US" sz="1200" dirty="0"/>
          </a:p>
          <a:p>
            <a:pPr indent="0" marL="0">
              <a:buNone/>
            </a:pPr>
            <a:r>
              <a:rPr lang="en-US" sz="1200" b="1" dirty="0">
                <a:solidFill>
                  <a:srgbClr val="0B0B0B"/>
                </a:solidFill>
                <a:latin typeface="Arial Narrow" pitchFamily="34" charset="0"/>
                <a:ea typeface="Arial Narrow" pitchFamily="34" charset="-122"/>
                <a:cs typeface="Arial Narrow" pitchFamily="34" charset="-120"/>
              </a:rPr>
              <a:t>Akbar Tausiur Rido (2269100087) | Iman Firmansyah (2269100052)</a:t>
            </a:r>
            <a:endParaRPr lang="en-US" sz="1200" dirty="0"/>
          </a:p>
        </p:txBody>
      </p:sp>
      <p:sp>
        <p:nvSpPr>
          <p:cNvPr id="5" name="Shape 3"/>
          <p:cNvSpPr/>
          <p:nvPr/>
        </p:nvSpPr>
        <p:spPr>
          <a:xfrm>
            <a:off x="6492240" y="1280160"/>
            <a:ext cx="2103120" cy="2103120"/>
          </a:xfrm>
          <a:prstGeom prst="ellipse">
            <a:avLst/>
          </a:prstGeom>
          <a:solidFill>
            <a:srgbClr val="FF2A1A"/>
          </a:solidFill>
          <a:ln w="12700">
            <a:solidFill>
              <a:srgbClr val="FF2A1A"/>
            </a:solidFill>
            <a:prstDash val="solid"/>
          </a:ln>
        </p:spPr>
      </p:sp>
      <p:sp>
        <p:nvSpPr>
          <p:cNvPr id="6" name="Shape 4"/>
          <p:cNvSpPr/>
          <p:nvPr/>
        </p:nvSpPr>
        <p:spPr>
          <a:xfrm>
            <a:off x="6355080" y="1143000"/>
            <a:ext cx="2103120" cy="2103120"/>
          </a:xfrm>
          <a:prstGeom prst="ellipse">
            <a:avLst/>
          </a:prstGeom>
          <a:solidFill>
            <a:srgbClr val="FFFFFF"/>
          </a:solidFill>
          <a:ln w="38100">
            <a:solidFill>
              <a:srgbClr val="0B0B0B"/>
            </a:solidFill>
            <a:prstDash val="solid"/>
          </a:ln>
        </p:spPr>
      </p:sp>
      <p:pic>
        <p:nvPicPr>
          <p:cNvPr id="7" name="Image 0" descr="/mnt/user-data/outputs/logo.png">    </p:cNvPr>
          <p:cNvPicPr>
            <a:picLocks noChangeAspect="1"/>
          </p:cNvPicPr>
          <p:nvPr/>
        </p:nvPicPr>
        <p:blipFill>
          <a:blip r:embed="rId1"/>
          <a:stretch>
            <a:fillRect/>
          </a:stretch>
        </p:blipFill>
        <p:spPr>
          <a:xfrm>
            <a:off x="6949440" y="1280160"/>
            <a:ext cx="914400" cy="1375442"/>
          </a:xfrm>
          <a:prstGeom prst="rect">
            <a:avLst/>
          </a:prstGeom>
        </p:spPr>
      </p:pic>
      <p:sp>
        <p:nvSpPr>
          <p:cNvPr id="8" name="Text 5"/>
          <p:cNvSpPr txBox="1"/>
          <p:nvPr/>
        </p:nvSpPr>
        <p:spPr>
          <a:xfrm>
            <a:off x="457200" y="4617720"/>
            <a:ext cx="7772400" cy="274320"/>
          </a:xfrm>
          <a:prstGeom prst="rect">
            <a:avLst/>
          </a:prstGeom>
          <a:noFill/>
          <a:ln/>
        </p:spPr>
        <p:txBody>
          <a:bodyPr wrap="square" lIns="0" tIns="0" rIns="0" bIns="0" rtlCol="0" anchor="t"/>
          <a:lstStyle/>
          <a:p>
            <a:pPr indent="0" marL="0">
              <a:buNone/>
            </a:pPr>
            <a:r>
              <a:rPr lang="en-US" sz="900" dirty="0">
                <a:solidFill>
                  <a:srgbClr val="444444"/>
                </a:solidFill>
                <a:latin typeface="Arial Narrow" pitchFamily="34" charset="0"/>
                <a:ea typeface="Arial Narrow" pitchFamily="34" charset="-122"/>
                <a:cs typeface="Arial Narrow" pitchFamily="34" charset="-120"/>
              </a:rPr>
              <a:t>Acuan utama: Hoy &amp; Miskel (2008). Educational administration: Theory, research, and practice (8th ed.). McGraw-Hill.</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Budaya dan Iklim Organisasi Pendidikan</dc:title>
  <dc:subject>PptxGenJS Presentation</dc:subject>
  <dc:creator>Akbar Tausiur Rido (2269100087), Iman Firmansyah (2269100052)</dc:creator>
  <cp:lastModifiedBy>Akbar Tausiur Rido (2269100087), Iman Firmansyah (2269100052)</cp:lastModifiedBy>
  <cp:revision>1</cp:revision>
  <dcterms:created xsi:type="dcterms:W3CDTF">2026-10-08T03:02:17Z</dcterms:created>
  <dcterms:modified xsi:type="dcterms:W3CDTF">2026-10-08T03:02:17Z</dcterms:modified>
</cp:coreProperties>
</file>