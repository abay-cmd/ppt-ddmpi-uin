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MAKALAH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5486400" cy="54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BUDAYA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412638"/>
            <a:ext cx="5486400" cy="54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&amp; IKLIM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10877"/>
            <a:ext cx="5486400" cy="54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ORGANISASI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409115"/>
            <a:ext cx="5486400" cy="54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PENDIDIKAN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204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Dasar-dasar Manajemen Pendidikan Islam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Dosen: Dr. Ujang Suyatman, M. Ag.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Penulis: Akbar Tausiur Rido (2269100087) | Iman Firmansyah (2269100052)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1280160"/>
            <a:ext cx="2103120" cy="210312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14300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0B0B"/>
            </a:solidFill>
            <a:prstDash val="solid"/>
          </a:ln>
        </p:spPr>
      </p:sp>
      <p:pic>
        <p:nvPicPr>
          <p:cNvPr id="11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914400" cy="137544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Program Magister Manajemen Pendidikan Islam, Pascasarjana UIN Sunan Gunung Djati Bandung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DAFTAR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84102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MATERI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01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LATAR BELAKANG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4203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Ideal vs realita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901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SISTEM TERBUKA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54203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Sekolah dan lingkungan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901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BUDAYA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54203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Definisi dan level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0" y="18288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901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NILAI DAN NORMA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54203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Bentuk, tanam, jaga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227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IKLIM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679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Budaya vs iklim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560320" y="315468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60320" y="3227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KEPERCAYAAN DAN KESEHATAN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560320" y="40965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Trust dan health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315468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3227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PERUBAHAN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38679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Strategi dan resistensi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766560" y="315468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66560" y="3227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PENUTUP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38679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Simpulan dan saran</a:t>
            </a:r>
            <a:endParaRPr lang="en-US" sz="1250" dirty="0"/>
          </a:p>
        </p:txBody>
      </p:sp>
      <p:pic>
        <p:nvPicPr>
          <p:cNvPr id="36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960120" y="4754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Sumber: Bab I sampai IV makalah; Hoy &amp; Miskel (2008)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KESENJANGAN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1075894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IDEAL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8868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&amp; REALITA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297680" y="50292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4008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612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IDEAL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Struktur, individu, budaya, politik selaras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2710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60020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MOTIVASI GURU RENDAH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Nilai dan slogan belum dihayati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2311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(Fandholi dkk., 2023)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242316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256032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KOMUNIKASI LEMAH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Pimpinan dan staf, komitmen guru turun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1912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(Nurlathifah &amp; Hidayat, 2025)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0" y="338328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52044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SEKADAR ADMINISTRATIF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Inovasi pembelajaran tertekan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41513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(Murniati &amp; Sudana, 2023)</a:t>
            </a:r>
            <a:endParaRPr lang="en-US" sz="900" dirty="0"/>
          </a:p>
        </p:txBody>
      </p:sp>
      <p:pic>
        <p:nvPicPr>
          <p:cNvPr id="29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RUMUSAN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1084102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MASALAH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1499616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87752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LEVEL BUDAYA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033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Konsep dan penerapan di lembaga Islam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9696" y="2514600"/>
            <a:ext cx="1499616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9696" y="2587752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139696" y="3063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NILAI DAN NORMA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39696" y="37033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Dibentuk, ditanam, dijaga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22192" y="2514600"/>
            <a:ext cx="1499616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22192" y="2587752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3063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BUDAYA VS IKLIM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22192" y="37033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Membangun iklim kondusif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04688" y="2514600"/>
            <a:ext cx="1499616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04688" y="2587752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504688" y="3063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TRUST DAN HEALTH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04688" y="37033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Saling berkaitan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87184" y="2514600"/>
            <a:ext cx="1499616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87184" y="2587752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3063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PERUBAHAN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87184" y="34747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Dinamika dan resistensi</a:t>
            </a:r>
            <a:endParaRPr lang="en-US" sz="1100" dirty="0"/>
          </a:p>
        </p:txBody>
      </p:sp>
      <p:pic>
        <p:nvPicPr>
          <p:cNvPr id="24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960120" y="4754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Sumber: Bab I.B makalah; kerangka Hoy &amp; Miskel (2008)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0" y="502920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SEKOLAH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001768" y="1075894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SISTEM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648868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SOSIAL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001768" y="2221842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TERBUKA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57200" y="50292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64008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612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INPUT, PROSES, OUTPUT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Dengan umpan balik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2710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EMPAT UNSUR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Struktur, individu, budaya, politik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2311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532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HARUS ADAPTIF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Organisasi bergantung pada lingkungan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1912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493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LEMBAGA ISLAM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Modernisasi vs penjagaan nilai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41513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(Irhas, 2026)</a:t>
            </a:r>
            <a:endParaRPr lang="en-US" sz="900" dirty="0"/>
          </a:p>
        </p:txBody>
      </p:sp>
      <p:pic>
        <p:nvPicPr>
          <p:cNvPr id="30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APA ITU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1075894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BUDAYA?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297680" y="50292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64008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9768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612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ORIENTASI BERSAMA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Mempersatukan unit dan memberi identitas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2710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60020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KEPRIBADIAN KOLEKTIF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Landasan identitas dan cara kerja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2311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(Habudin, 2020)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242316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56032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SISTEM MAKNA BERSAMA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Dianut warga sekolah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1912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(Afrida &amp; Fitri, 2022)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0" y="338328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352044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FUNGSI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Batas, identitas, komitmen, perekat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41513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pic>
        <p:nvPicPr>
          <p:cNvPr id="28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TIGA LEVEL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50976" y="1084102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BUDAYA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NORMA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Ekspektasi informal, ditegakkan sanksi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NILAI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Standar keberhasilan dan identitas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ASUMSI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Tersembunyi dan tahan perubahan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 MADRASAH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Bekerja adalah ibadah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(Kusumaningrum dkk., 2020)</a:t>
            </a:r>
            <a:endParaRPr lang="en-US" sz="850" dirty="0"/>
          </a:p>
        </p:txBody>
      </p:sp>
      <p:pic>
        <p:nvPicPr>
          <p:cNvPr id="24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NILAI &amp;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1084102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NORMA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RUMUSKAN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Konsensus visi pemangku kepentingan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(Wulandari &amp; Nugroho, 2020)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TERAPKAN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Norma tertulis dan tidak tertulis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(Nasution dkk., 2025)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TANAMKAN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Pembiasaan terstruktur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(Indrianingrum dkk., 2024)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JAGA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Keteladanan kepala sekolah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(Anjarrini &amp; Rindaningsih, 2022)</a:t>
            </a:r>
            <a:endParaRPr lang="en-US" sz="850" dirty="0"/>
          </a:p>
        </p:txBody>
      </p:sp>
      <p:pic>
        <p:nvPicPr>
          <p:cNvPr id="24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0" y="502920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BUDAYA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084064" y="1075894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4878324" y="1648868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IKLIM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008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612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BUDAYA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Nilai, norma, asumsi; mengendap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2710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(Habudin, 2020)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IKLIM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Persepsi dan perasaan harian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2311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(Nisa dkk., 2020)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532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OBJEK BERBEDA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Keyakinan vs persepsi perilaku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1912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493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BATERAI DAN SENTER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Budaya sumber daya, iklim cahaya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1513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(Basyit, 2020)</a:t>
            </a:r>
            <a:endParaRPr lang="en-US" sz="900" dirty="0"/>
          </a:p>
        </p:txBody>
      </p:sp>
      <p:pic>
        <p:nvPicPr>
          <p:cNvPr id="29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TIGA LENSA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84102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IKLIM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KETERBUKAAN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Diukur OCDQ, enam dimensi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KESEHATAN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Tujuh dimensi, tiga level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KEWARGAAN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Perilaku melampaui tugas formal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DIMENSI LOKAL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Komunikasi, kehangatan, dukungan, struktur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(Setiyani dkk., 2024)</a:t>
            </a:r>
            <a:endParaRPr lang="en-US" sz="850" dirty="0"/>
          </a:p>
        </p:txBody>
      </p:sp>
      <p:pic>
        <p:nvPicPr>
          <p:cNvPr id="24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LIMA FASET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84102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KEPERCAYAAN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1499616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87752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KEBAJIKAN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Peduli dan tidak merugikan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9696" y="2514600"/>
            <a:ext cx="1499616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9696" y="2587752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139696" y="3063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KEANDALAN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39696" y="34747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Konsisten dan dapat diandalkan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22192" y="2514600"/>
            <a:ext cx="1499616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22192" y="2587752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3063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KOMPETENSI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22192" y="34747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Mampu menjalankan peran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04688" y="2514600"/>
            <a:ext cx="1499616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04688" y="2587752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504688" y="3063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KEJUJURAN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04688" y="34747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Berkata benar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87184" y="2514600"/>
            <a:ext cx="1499616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87184" y="2587752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3063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KETERBUKAAN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87184" y="34747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Terbuka berbagi informasi</a:t>
            </a:r>
            <a:endParaRPr lang="en-US" sz="1100" dirty="0"/>
          </a:p>
        </p:txBody>
      </p:sp>
      <p:pic>
        <p:nvPicPr>
          <p:cNvPr id="24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960120" y="4754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Sumber: Hoy &amp; Miskel (2008). Trust tumbuh dari integritas dan keterbukaan (Jani, 2023)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SEKOLAH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1075894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SEHAT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297680" y="50292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64008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9768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612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INSTITUSIONAL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Integritas institusional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2710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60020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MANAJERIAL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Pengaruh kepala, konsiderasi, struktur, sumber daya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2311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242316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56032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TEKNIS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Moral guru dan penekanan akademik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1912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0" y="338328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352044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CIRI SEKOLAH SEHAT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Semangat tinggi, visi selaras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41513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(Huda, 2021)</a:t>
            </a:r>
            <a:endParaRPr lang="en-US" sz="900" dirty="0"/>
          </a:p>
        </p:txBody>
      </p:sp>
      <p:pic>
        <p:nvPicPr>
          <p:cNvPr id="28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0" y="502920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PERUBAHAN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4754880" y="1075894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&amp;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4919472" y="1648868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RESISTENSI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008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612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TANPA JALAN PINTAS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Jangka panjang dan sistemik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2710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NORMA PALING MUDAH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Nilai dan asumsi lebih sukar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2311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532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SEBAB RESISTENSI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Nyaman, cemas, kompetensi terbatas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1912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(Putri dkk., 2025)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40233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493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PERTAHANAN SOSIAL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Resistensi bukan sekadar membangkang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1513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900" dirty="0"/>
          </a:p>
        </p:txBody>
      </p:sp>
      <p:pic>
        <p:nvPicPr>
          <p:cNvPr id="29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TIGA STRATEGI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1084102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PERUBAHAN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KLINIS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Kenali, diagnosis, prognosis, preskripsi, evaluasi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BERPUSAT PADA PERTUMBUHAN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703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Guru berpotensi mengembangkan perubahan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UBAH NORMA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Ungkap, arahkan, tetapkan, tutup kesenjangan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(Hoy &amp; Miskel, 2008)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PERAN PEMIMPIN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Komunikasi partisipatif dan pelatihan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297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1E1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(Tiftazani dkk., 2025)</a:t>
            </a:r>
            <a:endParaRPr lang="en-US" sz="850" dirty="0"/>
          </a:p>
        </p:txBody>
      </p:sp>
      <p:pic>
        <p:nvPicPr>
          <p:cNvPr id="24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KESIMPULAN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1075894"/>
            <a:ext cx="3931920" cy="61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UMUM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297680" y="50292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64008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9768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612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BUDAYA, LALU IKLIM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Orientasi bersama membentuk iklim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60020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IKLIM, LALU TRUST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Iklim terbuka menumbuhkan kepercayaan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242316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560320"/>
            <a:ext cx="457200" cy="45720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TRUST, LALU HEALTH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Kepercayaan menopang kesehatan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7680" y="3383280"/>
            <a:ext cx="438912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3520440"/>
            <a:ext cx="457200" cy="45720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PERUBAHAN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Pekerjaan jangka panjang</a:t>
            </a:r>
            <a:endParaRPr lang="en-US" sz="1250" dirty="0"/>
          </a:p>
        </p:txBody>
      </p:sp>
      <p:pic>
        <p:nvPicPr>
          <p:cNvPr id="24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960120" y="4754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Sumber: Bab IV.A makalah; Hoy &amp; Miskel (2008)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1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REKOMENDASI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NILAI LEWAT MUSYAWARAH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03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Keteladanan jadi praktik harian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SURVEI ANONIM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Bandingkan dengan persepsi pimpinan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UBAH BERTAHAP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Ungkap norma, latih, evaluasi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2514600"/>
            <a:ext cx="192024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RISET LANJUTAN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Uji integritas institusional dan subbudaya</a:t>
            </a:r>
            <a:endParaRPr lang="en-US" sz="1250" dirty="0"/>
          </a:p>
        </p:txBody>
      </p:sp>
      <p:pic>
        <p:nvPicPr>
          <p:cNvPr id="19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365760" cy="5486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960120" y="4754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Sumber: Bab IV.C makalah; Hoy &amp; Miskel (2008)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5486400" cy="668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2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TERIMA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1445758"/>
            <a:ext cx="5486400" cy="668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B0B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KASIH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Tanya jawab dan diskusi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Akbar Tausiur Rido (2269100087) | Iman Firmansyah (2269100052)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92240" y="1280160"/>
            <a:ext cx="2103120" cy="2103120"/>
          </a:xfrm>
          <a:prstGeom prst="ellipse">
            <a:avLst/>
          </a:prstGeom>
          <a:solidFill>
            <a:srgbClr val="FF2A1A"/>
          </a:solidFill>
          <a:ln w="12700">
            <a:solidFill>
              <a:srgbClr val="FF2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14300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0B0B"/>
            </a:solidFill>
            <a:prstDash val="solid"/>
          </a:ln>
        </p:spPr>
      </p:sp>
      <p:pic>
        <p:nvPicPr>
          <p:cNvPr id="7" name="Image 0" descr="/mnt/user-data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914400" cy="13754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Acuan utama: Hoy &amp; Miskel (2008). Educational administration: Theory, research, and practice (8th ed.). McGraw-Hill.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Budaya dan Iklim Organisasi Pendidikan</dc:title>
  <dc:subject>PptxGenJS Presentation</dc:subject>
  <dc:creator>Akbar Tausiur Rido (2269100087), Iman Firmansyah (2269100052)</dc:creator>
  <cp:lastModifiedBy>Akbar Tausiur Rido (2269100087), Iman Firmansyah (2269100052)</cp:lastModifiedBy>
  <cp:revision>1</cp:revision>
  <dcterms:created xsi:type="dcterms:W3CDTF">2026-10-08T02:39:32Z</dcterms:created>
  <dcterms:modified xsi:type="dcterms:W3CDTF">2026-10-08T02:39:32Z</dcterms:modified>
</cp:coreProperties>
</file>